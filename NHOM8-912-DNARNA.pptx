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grandir Grand Medium" panose="020B0604020202020204" charset="0"/>
      <p:regular r:id="rId18"/>
    </p:embeddedFont>
    <p:embeddedFont>
      <p:font typeface="Baloo" panose="020B0604020202020204" charset="0"/>
      <p:regular r:id="rId19"/>
    </p:embeddedFont>
    <p:embeddedFont>
      <p:font typeface="Anton" panose="020B0604020202020204" charset="0"/>
      <p:regular r:id="rId20"/>
    </p:embeddedFont>
    <p:embeddedFont>
      <p:font typeface="Calibri" panose="020F0502020204030204" pitchFamily="34" charset="0"/>
      <p:regular r:id="rId21"/>
      <p:bold r:id="rId22"/>
      <p:italic r:id="rId23"/>
      <p:boldItalic r:id="rId24"/>
    </p:embeddedFont>
    <p:embeddedFont>
      <p:font typeface="Anton SC" panose="020B0604020202020204" charset="0"/>
      <p:regular r:id="rId25"/>
    </p:embeddedFont>
    <p:embeddedFont>
      <p:font typeface="Agrandir Grand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73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6.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2.pn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gif"/><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a:off x="1028700" y="5679641"/>
            <a:ext cx="6492240" cy="0"/>
          </a:xfrm>
          <a:prstGeom prst="line">
            <a:avLst/>
          </a:prstGeom>
          <a:ln w="9525" cap="flat">
            <a:solidFill>
              <a:srgbClr val="000000"/>
            </a:solidFill>
            <a:prstDash val="solid"/>
            <a:headEnd type="none" w="sm" len="sm"/>
            <a:tailEnd type="none" w="sm" len="sm"/>
          </a:ln>
        </p:spPr>
      </p:sp>
      <p:sp>
        <p:nvSpPr>
          <p:cNvPr id="3" name="AutoShape 3"/>
          <p:cNvSpPr/>
          <p:nvPr/>
        </p:nvSpPr>
        <p:spPr>
          <a:xfrm>
            <a:off x="6595804" y="7250145"/>
            <a:ext cx="10663496" cy="0"/>
          </a:xfrm>
          <a:prstGeom prst="line">
            <a:avLst/>
          </a:prstGeom>
          <a:ln w="9525" cap="flat">
            <a:solidFill>
              <a:srgbClr val="000000"/>
            </a:solidFill>
            <a:prstDash val="solid"/>
            <a:headEnd type="none" w="sm" len="sm"/>
            <a:tailEnd type="none" w="sm" len="sm"/>
          </a:ln>
        </p:spPr>
      </p:sp>
      <p:sp>
        <p:nvSpPr>
          <p:cNvPr id="4" name="Freeform 4"/>
          <p:cNvSpPr/>
          <p:nvPr/>
        </p:nvSpPr>
        <p:spPr>
          <a:xfrm>
            <a:off x="12891654" y="6397181"/>
            <a:ext cx="4367646" cy="460588"/>
          </a:xfrm>
          <a:custGeom>
            <a:avLst/>
            <a:gdLst/>
            <a:ahLst/>
            <a:cxnLst/>
            <a:rect l="l" t="t" r="r" b="b"/>
            <a:pathLst>
              <a:path w="4367646" h="460588">
                <a:moveTo>
                  <a:pt x="0" y="0"/>
                </a:moveTo>
                <a:lnTo>
                  <a:pt x="4367646" y="0"/>
                </a:lnTo>
                <a:lnTo>
                  <a:pt x="4367646" y="460588"/>
                </a:lnTo>
                <a:lnTo>
                  <a:pt x="0" y="46058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flipH="1">
            <a:off x="1028700" y="4880909"/>
            <a:ext cx="4367646" cy="460588"/>
          </a:xfrm>
          <a:custGeom>
            <a:avLst/>
            <a:gdLst/>
            <a:ahLst/>
            <a:cxnLst/>
            <a:rect l="l" t="t" r="r" b="b"/>
            <a:pathLst>
              <a:path w="4367646" h="460588">
                <a:moveTo>
                  <a:pt x="4367646" y="0"/>
                </a:moveTo>
                <a:lnTo>
                  <a:pt x="0" y="0"/>
                </a:lnTo>
                <a:lnTo>
                  <a:pt x="0" y="460589"/>
                </a:lnTo>
                <a:lnTo>
                  <a:pt x="4367646" y="460589"/>
                </a:lnTo>
                <a:lnTo>
                  <a:pt x="4367646"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rot="-10800000">
            <a:off x="17015295" y="1028700"/>
            <a:ext cx="244005" cy="189437"/>
          </a:xfrm>
          <a:custGeom>
            <a:avLst/>
            <a:gdLst/>
            <a:ahLst/>
            <a:cxnLst/>
            <a:rect l="l" t="t" r="r" b="b"/>
            <a:pathLst>
              <a:path w="244005" h="189437">
                <a:moveTo>
                  <a:pt x="0" y="0"/>
                </a:moveTo>
                <a:lnTo>
                  <a:pt x="244005" y="0"/>
                </a:lnTo>
                <a:lnTo>
                  <a:pt x="244005" y="189437"/>
                </a:lnTo>
                <a:lnTo>
                  <a:pt x="0" y="18943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Freeform 7"/>
          <p:cNvSpPr/>
          <p:nvPr/>
        </p:nvSpPr>
        <p:spPr>
          <a:xfrm rot="-10800000" flipH="1">
            <a:off x="1028700" y="1028700"/>
            <a:ext cx="244005" cy="189437"/>
          </a:xfrm>
          <a:custGeom>
            <a:avLst/>
            <a:gdLst/>
            <a:ahLst/>
            <a:cxnLst/>
            <a:rect l="l" t="t" r="r" b="b"/>
            <a:pathLst>
              <a:path w="244005" h="189437">
                <a:moveTo>
                  <a:pt x="244005" y="0"/>
                </a:moveTo>
                <a:lnTo>
                  <a:pt x="0" y="0"/>
                </a:lnTo>
                <a:lnTo>
                  <a:pt x="0" y="189437"/>
                </a:lnTo>
                <a:lnTo>
                  <a:pt x="244005" y="189437"/>
                </a:lnTo>
                <a:lnTo>
                  <a:pt x="244005"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769640" y="1619376"/>
            <a:ext cx="16748719" cy="2328545"/>
          </a:xfrm>
          <a:prstGeom prst="rect">
            <a:avLst/>
          </a:prstGeom>
        </p:spPr>
        <p:txBody>
          <a:bodyPr lIns="0" tIns="0" rIns="0" bIns="0" rtlCol="0" anchor="t">
            <a:spAutoFit/>
          </a:bodyPr>
          <a:lstStyle/>
          <a:p>
            <a:pPr algn="l">
              <a:lnSpc>
                <a:spcPts val="8680"/>
              </a:lnSpc>
              <a:spcBef>
                <a:spcPct val="0"/>
              </a:spcBef>
            </a:pPr>
            <a:r>
              <a:rPr lang="en-US" sz="6200" b="1">
                <a:solidFill>
                  <a:srgbClr val="000000"/>
                </a:solidFill>
                <a:latin typeface="Agrandir Grand Bold"/>
                <a:ea typeface="Agrandir Grand Bold"/>
                <a:cs typeface="Agrandir Grand Bold"/>
                <a:sym typeface="Agrandir Grand Bold"/>
              </a:rPr>
              <a:t>BÁO CÁO VỀ SẢN PHẨM MÔ HÌNH </a:t>
            </a:r>
            <a:r>
              <a:rPr lang="en-US" sz="6200" b="1">
                <a:solidFill>
                  <a:srgbClr val="ED0000"/>
                </a:solidFill>
                <a:latin typeface="Agrandir Grand Bold"/>
                <a:ea typeface="Agrandir Grand Bold"/>
                <a:cs typeface="Agrandir Grand Bold"/>
                <a:sym typeface="Agrandir Grand Bold"/>
              </a:rPr>
              <a:t>DNA/RNA TÁI CHẾ</a:t>
            </a:r>
          </a:p>
        </p:txBody>
      </p:sp>
      <p:sp>
        <p:nvSpPr>
          <p:cNvPr id="9" name="TextBox 9"/>
          <p:cNvSpPr txBox="1"/>
          <p:nvPr/>
        </p:nvSpPr>
        <p:spPr>
          <a:xfrm>
            <a:off x="1028700" y="5817278"/>
            <a:ext cx="2438166" cy="302276"/>
          </a:xfrm>
          <a:prstGeom prst="rect">
            <a:avLst/>
          </a:prstGeom>
        </p:spPr>
        <p:txBody>
          <a:bodyPr lIns="0" tIns="0" rIns="0" bIns="0" rtlCol="0" anchor="t">
            <a:spAutoFit/>
          </a:bodyPr>
          <a:lstStyle/>
          <a:p>
            <a:pPr algn="l">
              <a:lnSpc>
                <a:spcPts val="2240"/>
              </a:lnSpc>
              <a:spcBef>
                <a:spcPct val="0"/>
              </a:spcBef>
            </a:pPr>
            <a:r>
              <a:rPr lang="en-US" sz="1600" b="1">
                <a:solidFill>
                  <a:srgbClr val="000000"/>
                </a:solidFill>
                <a:latin typeface="Agrandir Grand Medium"/>
                <a:ea typeface="Agrandir Grand Medium"/>
                <a:cs typeface="Agrandir Grand Medium"/>
                <a:sym typeface="Agrandir Grand Medium"/>
              </a:rPr>
              <a:t>PRESENTATION</a:t>
            </a:r>
          </a:p>
        </p:txBody>
      </p:sp>
      <p:sp>
        <p:nvSpPr>
          <p:cNvPr id="10" name="Freeform 10"/>
          <p:cNvSpPr/>
          <p:nvPr/>
        </p:nvSpPr>
        <p:spPr>
          <a:xfrm rot="-153336">
            <a:off x="3313286" y="4179104"/>
            <a:ext cx="10475579" cy="4753294"/>
          </a:xfrm>
          <a:custGeom>
            <a:avLst/>
            <a:gdLst/>
            <a:ahLst/>
            <a:cxnLst/>
            <a:rect l="l" t="t" r="r" b="b"/>
            <a:pathLst>
              <a:path w="10475579" h="4753294">
                <a:moveTo>
                  <a:pt x="0" y="0"/>
                </a:moveTo>
                <a:lnTo>
                  <a:pt x="10475579" y="0"/>
                </a:lnTo>
                <a:lnTo>
                  <a:pt x="10475579" y="4753294"/>
                </a:lnTo>
                <a:lnTo>
                  <a:pt x="0" y="4753294"/>
                </a:lnTo>
                <a:lnTo>
                  <a:pt x="0" y="0"/>
                </a:lnTo>
                <a:close/>
              </a:path>
            </a:pathLst>
          </a:custGeom>
          <a:blipFill>
            <a:blip r:embed="rId6"/>
            <a:stretch>
              <a:fillRect/>
            </a:stretch>
          </a:blipFill>
        </p:spPr>
      </p:sp>
      <p:sp>
        <p:nvSpPr>
          <p:cNvPr id="11" name="Freeform 11"/>
          <p:cNvSpPr/>
          <p:nvPr/>
        </p:nvSpPr>
        <p:spPr>
          <a:xfrm>
            <a:off x="-691114" y="6452929"/>
            <a:ext cx="2921508" cy="4114800"/>
          </a:xfrm>
          <a:custGeom>
            <a:avLst/>
            <a:gdLst/>
            <a:ahLst/>
            <a:cxnLst/>
            <a:rect l="l" t="t" r="r" b="b"/>
            <a:pathLst>
              <a:path w="2921508" h="4114800">
                <a:moveTo>
                  <a:pt x="0" y="0"/>
                </a:moveTo>
                <a:lnTo>
                  <a:pt x="2921508" y="0"/>
                </a:lnTo>
                <a:lnTo>
                  <a:pt x="2921508" y="4114800"/>
                </a:lnTo>
                <a:lnTo>
                  <a:pt x="0" y="411480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2" name="Freeform 12"/>
          <p:cNvSpPr/>
          <p:nvPr/>
        </p:nvSpPr>
        <p:spPr>
          <a:xfrm rot="672572">
            <a:off x="16375635" y="1310587"/>
            <a:ext cx="5656480" cy="5274668"/>
          </a:xfrm>
          <a:custGeom>
            <a:avLst/>
            <a:gdLst/>
            <a:ahLst/>
            <a:cxnLst/>
            <a:rect l="l" t="t" r="r" b="b"/>
            <a:pathLst>
              <a:path w="5656480" h="5274668">
                <a:moveTo>
                  <a:pt x="0" y="0"/>
                </a:moveTo>
                <a:lnTo>
                  <a:pt x="5656481" y="0"/>
                </a:lnTo>
                <a:lnTo>
                  <a:pt x="5656481" y="5274668"/>
                </a:lnTo>
                <a:lnTo>
                  <a:pt x="0" y="5274668"/>
                </a:lnTo>
                <a:lnTo>
                  <a:pt x="0" y="0"/>
                </a:lnTo>
                <a:close/>
              </a:path>
            </a:pathLst>
          </a:custGeom>
          <a:blipFill>
            <a:blip r:embed="rId9">
              <a:alphaModFix amt="5000"/>
              <a:extLst>
                <a:ext uri="{96DAC541-7B7A-43D3-8B79-37D633B846F1}">
                  <asvg:svgBlip xmlns:asvg="http://schemas.microsoft.com/office/drawing/2016/SVG/main" xmlns="" r:embed="rId10"/>
                </a:ext>
              </a:extLst>
            </a:blip>
            <a:stretch>
              <a:fillRect/>
            </a:stretch>
          </a:blipFill>
        </p:spPr>
      </p:sp>
      <p:sp>
        <p:nvSpPr>
          <p:cNvPr id="13" name="Freeform 13"/>
          <p:cNvSpPr/>
          <p:nvPr/>
        </p:nvSpPr>
        <p:spPr>
          <a:xfrm>
            <a:off x="15348829" y="8080528"/>
            <a:ext cx="3332932" cy="2487201"/>
          </a:xfrm>
          <a:custGeom>
            <a:avLst/>
            <a:gdLst/>
            <a:ahLst/>
            <a:cxnLst/>
            <a:rect l="l" t="t" r="r" b="b"/>
            <a:pathLst>
              <a:path w="3332932" h="2487201">
                <a:moveTo>
                  <a:pt x="0" y="0"/>
                </a:moveTo>
                <a:lnTo>
                  <a:pt x="3332932" y="0"/>
                </a:lnTo>
                <a:lnTo>
                  <a:pt x="3332932" y="2487201"/>
                </a:lnTo>
                <a:lnTo>
                  <a:pt x="0" y="2487201"/>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Freeform 2"/>
          <p:cNvSpPr/>
          <p:nvPr/>
        </p:nvSpPr>
        <p:spPr>
          <a:xfrm flipH="1">
            <a:off x="17015295" y="9068863"/>
            <a:ext cx="244005" cy="189437"/>
          </a:xfrm>
          <a:custGeom>
            <a:avLst/>
            <a:gdLst/>
            <a:ahLst/>
            <a:cxnLst/>
            <a:rect l="l" t="t" r="r" b="b"/>
            <a:pathLst>
              <a:path w="244005" h="189437">
                <a:moveTo>
                  <a:pt x="244005" y="0"/>
                </a:moveTo>
                <a:lnTo>
                  <a:pt x="0" y="0"/>
                </a:lnTo>
                <a:lnTo>
                  <a:pt x="0" y="189437"/>
                </a:lnTo>
                <a:lnTo>
                  <a:pt x="244005" y="189437"/>
                </a:lnTo>
                <a:lnTo>
                  <a:pt x="244005"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4837475" y="297950"/>
            <a:ext cx="8613049" cy="1606549"/>
          </a:xfrm>
          <a:prstGeom prst="rect">
            <a:avLst/>
          </a:prstGeom>
        </p:spPr>
        <p:txBody>
          <a:bodyPr lIns="0" tIns="0" rIns="0" bIns="0" rtlCol="0" anchor="t">
            <a:spAutoFit/>
          </a:bodyPr>
          <a:lstStyle/>
          <a:p>
            <a:pPr algn="l">
              <a:lnSpc>
                <a:spcPts val="11200"/>
              </a:lnSpc>
              <a:spcBef>
                <a:spcPct val="0"/>
              </a:spcBef>
            </a:pPr>
            <a:r>
              <a:rPr lang="en-US" sz="8000" b="1">
                <a:gradFill>
                  <a:gsLst>
                    <a:gs pos="0">
                      <a:srgbClr val="FF3131">
                        <a:alpha val="100000"/>
                      </a:srgbClr>
                    </a:gs>
                    <a:gs pos="100000">
                      <a:srgbClr val="FF914D">
                        <a:alpha val="100000"/>
                      </a:srgbClr>
                    </a:gs>
                  </a:gsLst>
                  <a:lin ang="0"/>
                </a:gradFill>
                <a:latin typeface="Agrandir Grand Bold"/>
                <a:ea typeface="Agrandir Grand Bold"/>
                <a:cs typeface="Agrandir Grand Bold"/>
                <a:sym typeface="Agrandir Grand Bold"/>
              </a:rPr>
              <a:t>PHÂN CÔNG</a:t>
            </a:r>
          </a:p>
        </p:txBody>
      </p:sp>
      <p:sp>
        <p:nvSpPr>
          <p:cNvPr id="4" name="AutoShape 4"/>
          <p:cNvSpPr/>
          <p:nvPr/>
        </p:nvSpPr>
        <p:spPr>
          <a:xfrm flipV="1">
            <a:off x="0" y="1904500"/>
            <a:ext cx="16230600" cy="0"/>
          </a:xfrm>
          <a:prstGeom prst="line">
            <a:avLst/>
          </a:prstGeom>
          <a:ln w="9525" cap="flat">
            <a:solidFill>
              <a:srgbClr val="000000"/>
            </a:solidFill>
            <a:prstDash val="solid"/>
            <a:headEnd type="none" w="sm" len="sm"/>
            <a:tailEnd type="none" w="sm" len="sm"/>
          </a:ln>
        </p:spPr>
      </p:sp>
      <p:sp>
        <p:nvSpPr>
          <p:cNvPr id="5" name="Freeform 5"/>
          <p:cNvSpPr/>
          <p:nvPr/>
        </p:nvSpPr>
        <p:spPr>
          <a:xfrm>
            <a:off x="14113174" y="-2557709"/>
            <a:ext cx="7156962" cy="5600323"/>
          </a:xfrm>
          <a:custGeom>
            <a:avLst/>
            <a:gdLst/>
            <a:ahLst/>
            <a:cxnLst/>
            <a:rect l="l" t="t" r="r" b="b"/>
            <a:pathLst>
              <a:path w="7156962" h="5600323">
                <a:moveTo>
                  <a:pt x="0" y="0"/>
                </a:moveTo>
                <a:lnTo>
                  <a:pt x="7156962" y="0"/>
                </a:lnTo>
                <a:lnTo>
                  <a:pt x="7156962" y="5600323"/>
                </a:lnTo>
                <a:lnTo>
                  <a:pt x="0" y="5600323"/>
                </a:lnTo>
                <a:lnTo>
                  <a:pt x="0" y="0"/>
                </a:lnTo>
                <a:close/>
              </a:path>
            </a:pathLst>
          </a:custGeom>
          <a:blipFill>
            <a:blip r:embed="rId4"/>
            <a:stretch>
              <a:fillRect/>
            </a:stretch>
          </a:blipFill>
        </p:spPr>
      </p:sp>
      <p:sp>
        <p:nvSpPr>
          <p:cNvPr id="6" name="TextBox 6"/>
          <p:cNvSpPr txBox="1"/>
          <p:nvPr/>
        </p:nvSpPr>
        <p:spPr>
          <a:xfrm>
            <a:off x="297464" y="3109289"/>
            <a:ext cx="17990536" cy="5001369"/>
          </a:xfrm>
          <a:prstGeom prst="rect">
            <a:avLst/>
          </a:prstGeom>
        </p:spPr>
        <p:txBody>
          <a:bodyPr lIns="0" tIns="0" rIns="0" bIns="0" rtlCol="0" anchor="t">
            <a:spAutoFit/>
          </a:bodyPr>
          <a:lstStyle/>
          <a:p>
            <a:pPr algn="l">
              <a:lnSpc>
                <a:spcPts val="7840"/>
              </a:lnSpc>
            </a:pPr>
            <a:r>
              <a:rPr lang="en-US" sz="5600">
                <a:solidFill>
                  <a:srgbClr val="009D3A"/>
                </a:solidFill>
                <a:latin typeface="Anton SC"/>
                <a:ea typeface="Anton SC"/>
                <a:cs typeface="Anton SC"/>
                <a:sym typeface="Anton SC"/>
              </a:rPr>
              <a:t>A</a:t>
            </a:r>
            <a:r>
              <a:rPr lang="en-US" sz="5600" smtClean="0">
                <a:solidFill>
                  <a:srgbClr val="009D3A"/>
                </a:solidFill>
                <a:latin typeface="Anton SC"/>
                <a:ea typeface="Anton SC"/>
                <a:cs typeface="Anton SC"/>
                <a:sym typeface="Anton SC"/>
              </a:rPr>
              <a:t>nh </a:t>
            </a:r>
            <a:r>
              <a:rPr lang="en-US" sz="5600">
                <a:solidFill>
                  <a:srgbClr val="009D3A"/>
                </a:solidFill>
                <a:latin typeface="Anton SC"/>
                <a:ea typeface="Anton SC"/>
                <a:cs typeface="Anton SC"/>
                <a:sym typeface="Anton SC"/>
              </a:rPr>
              <a:t>H</a:t>
            </a:r>
            <a:r>
              <a:rPr lang="en-US" sz="5600" smtClean="0">
                <a:solidFill>
                  <a:srgbClr val="009D3A"/>
                </a:solidFill>
                <a:latin typeface="Anton SC"/>
                <a:ea typeface="Anton SC"/>
                <a:cs typeface="Anton SC"/>
                <a:sym typeface="Anton SC"/>
              </a:rPr>
              <a:t>uy</a:t>
            </a:r>
            <a:r>
              <a:rPr lang="en-US" sz="5600">
                <a:solidFill>
                  <a:srgbClr val="009D3A"/>
                </a:solidFill>
                <a:latin typeface="Anton SC"/>
                <a:ea typeface="Anton SC"/>
                <a:cs typeface="Anton SC"/>
                <a:sym typeface="Anton SC"/>
              </a:rPr>
              <a:t>, </a:t>
            </a:r>
            <a:r>
              <a:rPr lang="en-US" sz="5600" smtClean="0">
                <a:solidFill>
                  <a:srgbClr val="009D3A"/>
                </a:solidFill>
                <a:latin typeface="Anton SC"/>
                <a:ea typeface="Anton SC"/>
                <a:cs typeface="Anton SC"/>
                <a:sym typeface="Anton SC"/>
              </a:rPr>
              <a:t>Tuấn </a:t>
            </a:r>
            <a:r>
              <a:rPr lang="en-US" sz="5600">
                <a:solidFill>
                  <a:srgbClr val="009D3A"/>
                </a:solidFill>
                <a:latin typeface="Anton SC"/>
                <a:ea typeface="Anton SC"/>
                <a:cs typeface="Anton SC"/>
                <a:sym typeface="Anton SC"/>
              </a:rPr>
              <a:t>A</a:t>
            </a:r>
            <a:r>
              <a:rPr lang="en-US" sz="5600" smtClean="0">
                <a:solidFill>
                  <a:srgbClr val="009D3A"/>
                </a:solidFill>
                <a:latin typeface="Anton SC"/>
                <a:ea typeface="Anton SC"/>
                <a:cs typeface="Anton SC"/>
                <a:sym typeface="Anton SC"/>
              </a:rPr>
              <a:t>nh</a:t>
            </a:r>
            <a:r>
              <a:rPr lang="en-US" sz="5600">
                <a:solidFill>
                  <a:srgbClr val="009D3A"/>
                </a:solidFill>
                <a:latin typeface="Anton SC"/>
                <a:ea typeface="Anton SC"/>
                <a:cs typeface="Anton SC"/>
                <a:sym typeface="Anton SC"/>
              </a:rPr>
              <a:t>:</a:t>
            </a:r>
            <a:r>
              <a:rPr lang="en-US" sz="5600">
                <a:solidFill>
                  <a:srgbClr val="000000"/>
                </a:solidFill>
                <a:latin typeface="Anton SC"/>
                <a:ea typeface="Anton SC"/>
                <a:cs typeface="Anton SC"/>
                <a:sym typeface="Anton SC"/>
              </a:rPr>
              <a:t> chuẩn bị que kem, bìa carton, làm slide ppt</a:t>
            </a:r>
          </a:p>
          <a:p>
            <a:pPr algn="l">
              <a:lnSpc>
                <a:spcPts val="7840"/>
              </a:lnSpc>
            </a:pPr>
            <a:endParaRPr lang="en-US" sz="5600">
              <a:solidFill>
                <a:srgbClr val="000000"/>
              </a:solidFill>
              <a:latin typeface="Anton SC"/>
              <a:ea typeface="Anton SC"/>
              <a:cs typeface="Anton SC"/>
              <a:sym typeface="Anton SC"/>
            </a:endParaRPr>
          </a:p>
          <a:p>
            <a:pPr algn="l">
              <a:lnSpc>
                <a:spcPts val="7840"/>
              </a:lnSpc>
            </a:pPr>
            <a:r>
              <a:rPr lang="en-US" sz="5600">
                <a:solidFill>
                  <a:srgbClr val="2E03FF"/>
                </a:solidFill>
                <a:latin typeface="Anton SC"/>
                <a:ea typeface="Anton SC"/>
                <a:cs typeface="Anton SC"/>
                <a:sym typeface="Anton SC"/>
              </a:rPr>
              <a:t>H</a:t>
            </a:r>
            <a:r>
              <a:rPr lang="en-US" sz="5600" smtClean="0">
                <a:solidFill>
                  <a:srgbClr val="2E03FF"/>
                </a:solidFill>
                <a:latin typeface="Anton SC"/>
                <a:ea typeface="Anton SC"/>
                <a:cs typeface="Anton SC"/>
                <a:sym typeface="Anton SC"/>
              </a:rPr>
              <a:t>ải </a:t>
            </a:r>
            <a:r>
              <a:rPr lang="en-US" sz="5600">
                <a:solidFill>
                  <a:srgbClr val="2E03FF"/>
                </a:solidFill>
                <a:latin typeface="Anton SC"/>
                <a:ea typeface="Anton SC"/>
                <a:cs typeface="Anton SC"/>
                <a:sym typeface="Anton SC"/>
              </a:rPr>
              <a:t>Đ</a:t>
            </a:r>
            <a:r>
              <a:rPr lang="en-US" sz="5600" smtClean="0">
                <a:solidFill>
                  <a:srgbClr val="2E03FF"/>
                </a:solidFill>
                <a:latin typeface="Anton SC"/>
                <a:ea typeface="Anton SC"/>
                <a:cs typeface="Anton SC"/>
                <a:sym typeface="Anton SC"/>
              </a:rPr>
              <a:t>ăng</a:t>
            </a:r>
            <a:r>
              <a:rPr lang="en-US" sz="5600">
                <a:solidFill>
                  <a:srgbClr val="2E03FF"/>
                </a:solidFill>
                <a:latin typeface="Anton SC"/>
                <a:ea typeface="Anton SC"/>
                <a:cs typeface="Anton SC"/>
                <a:sym typeface="Anton SC"/>
              </a:rPr>
              <a:t>, </a:t>
            </a:r>
            <a:r>
              <a:rPr lang="en-US" sz="5600" smtClean="0">
                <a:solidFill>
                  <a:srgbClr val="2E03FF"/>
                </a:solidFill>
                <a:latin typeface="Anton SC"/>
                <a:ea typeface="Anton SC"/>
                <a:cs typeface="Anton SC"/>
                <a:sym typeface="Anton SC"/>
              </a:rPr>
              <a:t>Hoàng </a:t>
            </a:r>
            <a:r>
              <a:rPr lang="en-US" sz="5600">
                <a:solidFill>
                  <a:srgbClr val="2E03FF"/>
                </a:solidFill>
                <a:latin typeface="Anton SC"/>
                <a:ea typeface="Anton SC"/>
                <a:cs typeface="Anton SC"/>
                <a:sym typeface="Anton SC"/>
              </a:rPr>
              <a:t>Q</a:t>
            </a:r>
            <a:r>
              <a:rPr lang="en-US" sz="5600" smtClean="0">
                <a:solidFill>
                  <a:srgbClr val="2E03FF"/>
                </a:solidFill>
                <a:latin typeface="Anton SC"/>
                <a:ea typeface="Anton SC"/>
                <a:cs typeface="Anton SC"/>
                <a:sym typeface="Anton SC"/>
              </a:rPr>
              <a:t>uân</a:t>
            </a:r>
            <a:r>
              <a:rPr lang="en-US" sz="5600">
                <a:solidFill>
                  <a:srgbClr val="2E03FF"/>
                </a:solidFill>
                <a:latin typeface="Anton SC"/>
                <a:ea typeface="Anton SC"/>
                <a:cs typeface="Anton SC"/>
                <a:sym typeface="Anton SC"/>
              </a:rPr>
              <a:t>:</a:t>
            </a:r>
            <a:r>
              <a:rPr lang="en-US" sz="5600">
                <a:solidFill>
                  <a:srgbClr val="000000"/>
                </a:solidFill>
                <a:latin typeface="Anton SC"/>
                <a:ea typeface="Anton SC"/>
                <a:cs typeface="Anton SC"/>
                <a:sym typeface="Anton SC"/>
              </a:rPr>
              <a:t> chuẩn bị đất sét, kết nối các chi tiết</a:t>
            </a:r>
          </a:p>
          <a:p>
            <a:pPr algn="l">
              <a:lnSpc>
                <a:spcPts val="7840"/>
              </a:lnSpc>
            </a:pPr>
            <a:endParaRPr lang="en-US" sz="5600">
              <a:solidFill>
                <a:srgbClr val="000000"/>
              </a:solidFill>
              <a:latin typeface="Anton SC"/>
              <a:ea typeface="Anton SC"/>
              <a:cs typeface="Anton SC"/>
              <a:sym typeface="Anton SC"/>
            </a:endParaRPr>
          </a:p>
          <a:p>
            <a:pPr algn="l">
              <a:lnSpc>
                <a:spcPts val="7840"/>
              </a:lnSpc>
              <a:spcBef>
                <a:spcPct val="0"/>
              </a:spcBef>
            </a:pPr>
            <a:r>
              <a:rPr lang="en-US" sz="5600">
                <a:solidFill>
                  <a:srgbClr val="BC01C6"/>
                </a:solidFill>
                <a:latin typeface="Anton SC"/>
                <a:ea typeface="Anton SC"/>
                <a:cs typeface="Anton SC"/>
                <a:sym typeface="Anton SC"/>
              </a:rPr>
              <a:t>T</a:t>
            </a:r>
            <a:r>
              <a:rPr lang="en-US" sz="5600" smtClean="0">
                <a:solidFill>
                  <a:srgbClr val="BC01C6"/>
                </a:solidFill>
                <a:latin typeface="Anton SC"/>
                <a:ea typeface="Anton SC"/>
                <a:cs typeface="Anton SC"/>
                <a:sym typeface="Anton SC"/>
              </a:rPr>
              <a:t>rung </a:t>
            </a:r>
            <a:r>
              <a:rPr lang="en-US" sz="5600">
                <a:solidFill>
                  <a:srgbClr val="BC01C6"/>
                </a:solidFill>
                <a:latin typeface="Anton SC"/>
                <a:ea typeface="Anton SC"/>
                <a:cs typeface="Anton SC"/>
                <a:sym typeface="Anton SC"/>
              </a:rPr>
              <a:t>H</a:t>
            </a:r>
            <a:r>
              <a:rPr lang="en-US" sz="5600" smtClean="0">
                <a:solidFill>
                  <a:srgbClr val="BC01C6"/>
                </a:solidFill>
                <a:latin typeface="Anton SC"/>
                <a:ea typeface="Anton SC"/>
                <a:cs typeface="Anton SC"/>
                <a:sym typeface="Anton SC"/>
              </a:rPr>
              <a:t>iếu</a:t>
            </a:r>
            <a:r>
              <a:rPr lang="en-US" sz="5600">
                <a:solidFill>
                  <a:srgbClr val="BC01C6"/>
                </a:solidFill>
                <a:latin typeface="Anton SC"/>
                <a:ea typeface="Anton SC"/>
                <a:cs typeface="Anton SC"/>
                <a:sym typeface="Anton SC"/>
              </a:rPr>
              <a:t>, </a:t>
            </a:r>
            <a:r>
              <a:rPr lang="en-US" sz="5600" smtClean="0">
                <a:solidFill>
                  <a:srgbClr val="BC01C6"/>
                </a:solidFill>
                <a:latin typeface="Anton SC"/>
                <a:ea typeface="Anton SC"/>
                <a:cs typeface="Anton SC"/>
                <a:sym typeface="Anton SC"/>
              </a:rPr>
              <a:t>Tuấn </a:t>
            </a:r>
            <a:r>
              <a:rPr lang="en-US" sz="5600">
                <a:solidFill>
                  <a:srgbClr val="BC01C6"/>
                </a:solidFill>
                <a:latin typeface="Anton SC"/>
                <a:ea typeface="Anton SC"/>
                <a:cs typeface="Anton SC"/>
                <a:sym typeface="Anton SC"/>
              </a:rPr>
              <a:t>K</a:t>
            </a:r>
            <a:r>
              <a:rPr lang="en-US" sz="5600" smtClean="0">
                <a:solidFill>
                  <a:srgbClr val="BC01C6"/>
                </a:solidFill>
                <a:latin typeface="Anton SC"/>
                <a:ea typeface="Anton SC"/>
                <a:cs typeface="Anton SC"/>
                <a:sym typeface="Anton SC"/>
              </a:rPr>
              <a:t>hang</a:t>
            </a:r>
            <a:r>
              <a:rPr lang="en-US" sz="5600">
                <a:solidFill>
                  <a:srgbClr val="BC01C6"/>
                </a:solidFill>
                <a:latin typeface="Anton SC"/>
                <a:ea typeface="Anton SC"/>
                <a:cs typeface="Anton SC"/>
                <a:sym typeface="Anton SC"/>
              </a:rPr>
              <a:t>, </a:t>
            </a:r>
            <a:r>
              <a:rPr lang="en-US" sz="5600" smtClean="0">
                <a:solidFill>
                  <a:srgbClr val="BC01C6"/>
                </a:solidFill>
                <a:latin typeface="Anton SC"/>
                <a:ea typeface="Anton SC"/>
                <a:cs typeface="Anton SC"/>
                <a:sym typeface="Anton SC"/>
              </a:rPr>
              <a:t>Quốc </a:t>
            </a:r>
            <a:r>
              <a:rPr lang="en-US" sz="5600">
                <a:solidFill>
                  <a:srgbClr val="BC01C6"/>
                </a:solidFill>
                <a:latin typeface="Anton SC"/>
                <a:ea typeface="Anton SC"/>
                <a:cs typeface="Anton SC"/>
                <a:sym typeface="Anton SC"/>
              </a:rPr>
              <a:t>V</a:t>
            </a:r>
            <a:r>
              <a:rPr lang="en-US" sz="5600" smtClean="0">
                <a:solidFill>
                  <a:srgbClr val="BC01C6"/>
                </a:solidFill>
                <a:latin typeface="Anton SC"/>
                <a:ea typeface="Anton SC"/>
                <a:cs typeface="Anton SC"/>
                <a:sym typeface="Anton SC"/>
              </a:rPr>
              <a:t>iệt</a:t>
            </a:r>
            <a:r>
              <a:rPr lang="en-US" sz="5600">
                <a:solidFill>
                  <a:srgbClr val="BC01C6"/>
                </a:solidFill>
                <a:latin typeface="Anton SC"/>
                <a:ea typeface="Anton SC"/>
                <a:cs typeface="Anton SC"/>
                <a:sym typeface="Anton SC"/>
              </a:rPr>
              <a:t>:</a:t>
            </a:r>
            <a:r>
              <a:rPr lang="en-US" sz="5600">
                <a:solidFill>
                  <a:srgbClr val="000000"/>
                </a:solidFill>
                <a:latin typeface="Anton SC"/>
                <a:ea typeface="Anton SC"/>
                <a:cs typeface="Anton SC"/>
                <a:sym typeface="Anton SC"/>
              </a:rPr>
              <a:t> làm trục, nặng đất sét</a:t>
            </a:r>
          </a:p>
        </p:txBody>
      </p:sp>
      <p:pic>
        <p:nvPicPr>
          <p:cNvPr id="7" name="Picture 7"/>
          <p:cNvPicPr>
            <a:picLocks noChangeAspect="1"/>
          </p:cNvPicPr>
          <p:nvPr/>
        </p:nvPicPr>
        <p:blipFill>
          <a:blip r:embed="rId5"/>
          <a:srcRect/>
          <a:stretch>
            <a:fillRect/>
          </a:stretch>
        </p:blipFill>
        <p:spPr>
          <a:xfrm>
            <a:off x="216381" y="8837282"/>
            <a:ext cx="1098588" cy="1381871"/>
          </a:xfrm>
          <a:prstGeom prst="rect">
            <a:avLst/>
          </a:prstGeom>
        </p:spPr>
      </p:pic>
      <p:pic>
        <p:nvPicPr>
          <p:cNvPr id="8" name="Picture 8"/>
          <p:cNvPicPr>
            <a:picLocks noChangeAspect="1"/>
          </p:cNvPicPr>
          <p:nvPr/>
        </p:nvPicPr>
        <p:blipFill>
          <a:blip r:embed="rId5"/>
          <a:srcRect/>
          <a:stretch>
            <a:fillRect/>
          </a:stretch>
        </p:blipFill>
        <p:spPr>
          <a:xfrm>
            <a:off x="479406" y="337764"/>
            <a:ext cx="1098588" cy="13818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TextBox 2"/>
          <p:cNvSpPr txBox="1"/>
          <p:nvPr/>
        </p:nvSpPr>
        <p:spPr>
          <a:xfrm>
            <a:off x="7277763" y="268288"/>
            <a:ext cx="3732475" cy="1368424"/>
          </a:xfrm>
          <a:prstGeom prst="rect">
            <a:avLst/>
          </a:prstGeom>
        </p:spPr>
        <p:txBody>
          <a:bodyPr lIns="0" tIns="0" rIns="0" bIns="0" rtlCol="0" anchor="t">
            <a:spAutoFit/>
          </a:bodyPr>
          <a:lstStyle/>
          <a:p>
            <a:pPr algn="l">
              <a:lnSpc>
                <a:spcPts val="11200"/>
              </a:lnSpc>
              <a:spcBef>
                <a:spcPct val="0"/>
              </a:spcBef>
            </a:pPr>
            <a:r>
              <a:rPr lang="en-US" sz="8000">
                <a:gradFill>
                  <a:gsLst>
                    <a:gs pos="0">
                      <a:srgbClr val="5170FF">
                        <a:alpha val="100000"/>
                      </a:srgbClr>
                    </a:gs>
                    <a:gs pos="100000">
                      <a:srgbClr val="FF66C4">
                        <a:alpha val="100000"/>
                      </a:srgbClr>
                    </a:gs>
                  </a:gsLst>
                  <a:lin ang="0"/>
                </a:gradFill>
                <a:latin typeface="Anton SC"/>
                <a:ea typeface="Anton SC"/>
                <a:cs typeface="Anton SC"/>
                <a:sym typeface="Anton SC"/>
              </a:rPr>
              <a:t> MỤC LỤC</a:t>
            </a:r>
          </a:p>
        </p:txBody>
      </p:sp>
      <p:sp>
        <p:nvSpPr>
          <p:cNvPr id="3" name="AutoShape 3"/>
          <p:cNvSpPr/>
          <p:nvPr/>
        </p:nvSpPr>
        <p:spPr>
          <a:xfrm flipV="1">
            <a:off x="0" y="1904500"/>
            <a:ext cx="16230600" cy="0"/>
          </a:xfrm>
          <a:prstGeom prst="line">
            <a:avLst/>
          </a:prstGeom>
          <a:ln w="9525" cap="flat">
            <a:solidFill>
              <a:srgbClr val="000000"/>
            </a:solidFill>
            <a:prstDash val="solid"/>
            <a:headEnd type="none" w="sm" len="sm"/>
            <a:tailEnd type="none" w="sm" len="sm"/>
          </a:ln>
        </p:spPr>
      </p:sp>
      <p:sp>
        <p:nvSpPr>
          <p:cNvPr id="4" name="Freeform 4"/>
          <p:cNvSpPr/>
          <p:nvPr/>
        </p:nvSpPr>
        <p:spPr>
          <a:xfrm>
            <a:off x="14113174" y="-2557709"/>
            <a:ext cx="7156962" cy="5600323"/>
          </a:xfrm>
          <a:custGeom>
            <a:avLst/>
            <a:gdLst/>
            <a:ahLst/>
            <a:cxnLst/>
            <a:rect l="l" t="t" r="r" b="b"/>
            <a:pathLst>
              <a:path w="7156962" h="5600323">
                <a:moveTo>
                  <a:pt x="0" y="0"/>
                </a:moveTo>
                <a:lnTo>
                  <a:pt x="7156962" y="0"/>
                </a:lnTo>
                <a:lnTo>
                  <a:pt x="7156962" y="5600323"/>
                </a:lnTo>
                <a:lnTo>
                  <a:pt x="0" y="5600323"/>
                </a:lnTo>
                <a:lnTo>
                  <a:pt x="0" y="0"/>
                </a:lnTo>
                <a:close/>
              </a:path>
            </a:pathLst>
          </a:custGeom>
          <a:blipFill>
            <a:blip r:embed="rId2"/>
            <a:stretch>
              <a:fillRect/>
            </a:stretch>
          </a:blipFill>
        </p:spPr>
      </p:sp>
      <p:sp>
        <p:nvSpPr>
          <p:cNvPr id="5" name="TextBox 5"/>
          <p:cNvSpPr txBox="1"/>
          <p:nvPr/>
        </p:nvSpPr>
        <p:spPr>
          <a:xfrm>
            <a:off x="1040980" y="3430863"/>
            <a:ext cx="12473565" cy="1409109"/>
          </a:xfrm>
          <a:prstGeom prst="rect">
            <a:avLst/>
          </a:prstGeom>
        </p:spPr>
        <p:txBody>
          <a:bodyPr lIns="0" tIns="0" rIns="0" bIns="0" rtlCol="0" anchor="t">
            <a:spAutoFit/>
          </a:bodyPr>
          <a:lstStyle/>
          <a:p>
            <a:pPr algn="l">
              <a:lnSpc>
                <a:spcPts val="11582"/>
              </a:lnSpc>
              <a:spcBef>
                <a:spcPct val="0"/>
              </a:spcBef>
            </a:pPr>
            <a:endParaRPr/>
          </a:p>
        </p:txBody>
      </p:sp>
      <p:sp>
        <p:nvSpPr>
          <p:cNvPr id="6" name="TextBox 6"/>
          <p:cNvSpPr txBox="1"/>
          <p:nvPr/>
        </p:nvSpPr>
        <p:spPr>
          <a:xfrm>
            <a:off x="1839062" y="3118814"/>
            <a:ext cx="11419738" cy="5834931"/>
          </a:xfrm>
          <a:prstGeom prst="rect">
            <a:avLst/>
          </a:prstGeom>
        </p:spPr>
        <p:txBody>
          <a:bodyPr wrap="square" lIns="0" tIns="0" rIns="0" bIns="0" rtlCol="0" anchor="t">
            <a:spAutoFit/>
          </a:bodyPr>
          <a:lstStyle/>
          <a:p>
            <a:pPr algn="l">
              <a:lnSpc>
                <a:spcPts val="9100"/>
              </a:lnSpc>
              <a:spcBef>
                <a:spcPct val="0"/>
              </a:spcBef>
            </a:pPr>
            <a:r>
              <a:rPr lang="en-US" sz="6500">
                <a:solidFill>
                  <a:srgbClr val="FF0000"/>
                </a:solidFill>
                <a:latin typeface="Anton SC"/>
                <a:ea typeface="Anton SC"/>
                <a:cs typeface="Anton SC"/>
                <a:sym typeface="Anton SC"/>
              </a:rPr>
              <a:t>1. NGUYÊN LIỆU CẦN CHUẨN BỊ</a:t>
            </a:r>
          </a:p>
          <a:p>
            <a:pPr algn="l">
              <a:lnSpc>
                <a:spcPts val="9100"/>
              </a:lnSpc>
              <a:spcBef>
                <a:spcPct val="0"/>
              </a:spcBef>
            </a:pPr>
            <a:r>
              <a:rPr lang="en-US" sz="6500">
                <a:solidFill>
                  <a:srgbClr val="2E03FF"/>
                </a:solidFill>
                <a:latin typeface="Anton SC"/>
                <a:ea typeface="Anton SC"/>
                <a:cs typeface="Anton SC"/>
                <a:sym typeface="Anton SC"/>
              </a:rPr>
              <a:t>2. CÁC BƯỚC THỰC HIỆN</a:t>
            </a:r>
          </a:p>
          <a:p>
            <a:pPr algn="l">
              <a:lnSpc>
                <a:spcPts val="9100"/>
              </a:lnSpc>
              <a:spcBef>
                <a:spcPct val="0"/>
              </a:spcBef>
            </a:pPr>
            <a:r>
              <a:rPr lang="en-US" sz="6500">
                <a:solidFill>
                  <a:srgbClr val="009D3A"/>
                </a:solidFill>
                <a:latin typeface="Anton SC"/>
                <a:ea typeface="Anton SC"/>
                <a:cs typeface="Anton SC"/>
                <a:sym typeface="Anton SC"/>
              </a:rPr>
              <a:t>3. KẾT QUẢ, THÀNH PHẨM MÔ HÌNH</a:t>
            </a:r>
          </a:p>
          <a:p>
            <a:pPr algn="l">
              <a:lnSpc>
                <a:spcPts val="9100"/>
              </a:lnSpc>
              <a:spcBef>
                <a:spcPct val="0"/>
              </a:spcBef>
            </a:pPr>
            <a:r>
              <a:rPr lang="en-US" sz="6500">
                <a:solidFill>
                  <a:srgbClr val="BC01C6"/>
                </a:solidFill>
                <a:latin typeface="Anton SC"/>
                <a:ea typeface="Anton SC"/>
                <a:cs typeface="Anton SC"/>
                <a:sym typeface="Anton SC"/>
              </a:rPr>
              <a:t>4. PHÂN TÍCH, Ý NGHĨA CỦA MÔ HÌNH</a:t>
            </a:r>
          </a:p>
          <a:p>
            <a:pPr algn="l">
              <a:lnSpc>
                <a:spcPts val="9100"/>
              </a:lnSpc>
              <a:spcBef>
                <a:spcPct val="0"/>
              </a:spcBef>
            </a:pPr>
            <a:r>
              <a:rPr lang="en-US" sz="6500">
                <a:solidFill>
                  <a:srgbClr val="00AEC6"/>
                </a:solidFill>
                <a:latin typeface="Anton SC"/>
                <a:ea typeface="Anton SC"/>
                <a:cs typeface="Anton SC"/>
                <a:sym typeface="Anton SC"/>
              </a:rPr>
              <a:t>5. ĐÁNH GIÁ CỦA NHÓM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6" name="TextBox 6"/>
          <p:cNvSpPr txBox="1"/>
          <p:nvPr/>
        </p:nvSpPr>
        <p:spPr>
          <a:xfrm>
            <a:off x="2200275" y="2425700"/>
            <a:ext cx="11364069" cy="7737475"/>
          </a:xfrm>
          <a:prstGeom prst="rect">
            <a:avLst/>
          </a:prstGeom>
        </p:spPr>
        <p:txBody>
          <a:bodyPr lIns="0" tIns="0" rIns="0" bIns="0" rtlCol="0" anchor="t">
            <a:spAutoFit/>
          </a:bodyPr>
          <a:lstStyle/>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QUE KEM</a:t>
            </a:r>
          </a:p>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ĐŨA</a:t>
            </a:r>
          </a:p>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ĐẤT SÉT</a:t>
            </a:r>
          </a:p>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BÌA CARTON</a:t>
            </a:r>
          </a:p>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GIẤY A4</a:t>
            </a:r>
          </a:p>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MÀU AGRILIC</a:t>
            </a:r>
          </a:p>
          <a:p>
            <a:pPr marL="1187449" lvl="1" indent="-593725" algn="l">
              <a:lnSpc>
                <a:spcPts val="7699"/>
              </a:lnSpc>
              <a:spcBef>
                <a:spcPct val="0"/>
              </a:spcBef>
              <a:buFont typeface="Arial"/>
              <a:buChar char="•"/>
            </a:pPr>
            <a:r>
              <a:rPr lang="en-US" sz="5499">
                <a:solidFill>
                  <a:srgbClr val="000000"/>
                </a:solidFill>
                <a:latin typeface="Baloo"/>
                <a:ea typeface="Baloo"/>
                <a:cs typeface="Baloo"/>
                <a:sym typeface="Baloo"/>
              </a:rPr>
              <a:t>MÔ TƠ GIẢM TỐC 3V TRỤC DÀI</a:t>
            </a:r>
          </a:p>
          <a:p>
            <a:pPr algn="l">
              <a:lnSpc>
                <a:spcPts val="7699"/>
              </a:lnSpc>
              <a:spcBef>
                <a:spcPct val="0"/>
              </a:spcBef>
            </a:pPr>
            <a:endParaRPr lang="en-US" sz="5499">
              <a:solidFill>
                <a:srgbClr val="000000"/>
              </a:solidFill>
              <a:latin typeface="Baloo"/>
              <a:ea typeface="Baloo"/>
              <a:cs typeface="Baloo"/>
              <a:sym typeface="Balo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5881557" y="2137862"/>
            <a:ext cx="6524887" cy="6524887"/>
          </a:xfrm>
          <a:custGeom>
            <a:avLst/>
            <a:gdLst/>
            <a:ahLst/>
            <a:cxnLst/>
            <a:rect l="l" t="t" r="r" b="b"/>
            <a:pathLst>
              <a:path w="6524887" h="6524887">
                <a:moveTo>
                  <a:pt x="0" y="0"/>
                </a:moveTo>
                <a:lnTo>
                  <a:pt x="6524886" y="0"/>
                </a:lnTo>
                <a:lnTo>
                  <a:pt x="6524886" y="6524887"/>
                </a:lnTo>
                <a:lnTo>
                  <a:pt x="0" y="6524887"/>
                </a:lnTo>
                <a:lnTo>
                  <a:pt x="0" y="0"/>
                </a:lnTo>
                <a:close/>
              </a:path>
            </a:pathLst>
          </a:custGeom>
          <a:blipFill>
            <a:blip r:embed="rId4"/>
            <a:stretch>
              <a:fillRect/>
            </a:stretch>
          </a:blipFill>
        </p:spPr>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7593950" y="8786574"/>
            <a:ext cx="3020169" cy="190817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QUE KEM</a:t>
            </a:r>
          </a:p>
          <a:p>
            <a:pPr algn="l">
              <a:lnSpc>
                <a:spcPts val="7699"/>
              </a:lnSpc>
              <a:spcBef>
                <a:spcPct val="0"/>
              </a:spcBef>
            </a:pPr>
            <a:endParaRPr lang="en-US" sz="5499">
              <a:solidFill>
                <a:srgbClr val="000000"/>
              </a:solidFill>
              <a:latin typeface="Baloo"/>
              <a:ea typeface="Baloo"/>
              <a:cs typeface="Baloo"/>
              <a:sym typeface="Baloo"/>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4523684" y="2320095"/>
            <a:ext cx="9240632" cy="6160421"/>
          </a:xfrm>
          <a:custGeom>
            <a:avLst/>
            <a:gdLst/>
            <a:ahLst/>
            <a:cxnLst/>
            <a:rect l="l" t="t" r="r" b="b"/>
            <a:pathLst>
              <a:path w="9240632" h="6160421">
                <a:moveTo>
                  <a:pt x="0" y="0"/>
                </a:moveTo>
                <a:lnTo>
                  <a:pt x="9240632" y="0"/>
                </a:lnTo>
                <a:lnTo>
                  <a:pt x="9240632" y="6160421"/>
                </a:lnTo>
                <a:lnTo>
                  <a:pt x="0" y="6160421"/>
                </a:lnTo>
                <a:lnTo>
                  <a:pt x="0" y="0"/>
                </a:lnTo>
                <a:close/>
              </a:path>
            </a:pathLst>
          </a:custGeom>
          <a:blipFill>
            <a:blip r:embed="rId4"/>
            <a:stretch>
              <a:fillRect/>
            </a:stretch>
          </a:blipFill>
        </p:spPr>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8329010" y="8785316"/>
            <a:ext cx="155005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ĐŨA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4378939" y="2137862"/>
            <a:ext cx="9450191" cy="6300127"/>
          </a:xfrm>
          <a:custGeom>
            <a:avLst/>
            <a:gdLst/>
            <a:ahLst/>
            <a:cxnLst/>
            <a:rect l="l" t="t" r="r" b="b"/>
            <a:pathLst>
              <a:path w="9450191" h="6300127">
                <a:moveTo>
                  <a:pt x="0" y="0"/>
                </a:moveTo>
                <a:lnTo>
                  <a:pt x="9450191" y="0"/>
                </a:lnTo>
                <a:lnTo>
                  <a:pt x="9450191" y="6300127"/>
                </a:lnTo>
                <a:lnTo>
                  <a:pt x="0" y="6300127"/>
                </a:lnTo>
                <a:lnTo>
                  <a:pt x="0" y="0"/>
                </a:lnTo>
                <a:close/>
              </a:path>
            </a:pathLst>
          </a:custGeom>
          <a:blipFill>
            <a:blip r:embed="rId4"/>
            <a:stretch>
              <a:fillRect/>
            </a:stretch>
          </a:blipFill>
        </p:spPr>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7711750" y="8737600"/>
            <a:ext cx="286450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ĐẤT SÉT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5825543" y="2097327"/>
            <a:ext cx="6556983" cy="6556983"/>
          </a:xfrm>
          <a:custGeom>
            <a:avLst/>
            <a:gdLst/>
            <a:ahLst/>
            <a:cxnLst/>
            <a:rect l="l" t="t" r="r" b="b"/>
            <a:pathLst>
              <a:path w="6556983" h="6556983">
                <a:moveTo>
                  <a:pt x="0" y="0"/>
                </a:moveTo>
                <a:lnTo>
                  <a:pt x="6556983" y="0"/>
                </a:lnTo>
                <a:lnTo>
                  <a:pt x="6556983" y="6556983"/>
                </a:lnTo>
                <a:lnTo>
                  <a:pt x="0" y="6556983"/>
                </a:lnTo>
                <a:lnTo>
                  <a:pt x="0" y="0"/>
                </a:lnTo>
                <a:close/>
              </a:path>
            </a:pathLst>
          </a:custGeom>
          <a:blipFill>
            <a:blip r:embed="rId4"/>
            <a:stretch>
              <a:fillRect/>
            </a:stretch>
          </a:blipFill>
        </p:spPr>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7283125" y="8951539"/>
            <a:ext cx="423610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BÌA CARTON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5934094" y="1962337"/>
            <a:ext cx="6339882" cy="6617541"/>
          </a:xfrm>
          <a:custGeom>
            <a:avLst/>
            <a:gdLst/>
            <a:ahLst/>
            <a:cxnLst/>
            <a:rect l="l" t="t" r="r" b="b"/>
            <a:pathLst>
              <a:path w="6339882" h="6617541">
                <a:moveTo>
                  <a:pt x="0" y="0"/>
                </a:moveTo>
                <a:lnTo>
                  <a:pt x="6339882" y="0"/>
                </a:lnTo>
                <a:lnTo>
                  <a:pt x="6339882" y="6617541"/>
                </a:lnTo>
                <a:lnTo>
                  <a:pt x="0" y="6617541"/>
                </a:lnTo>
                <a:lnTo>
                  <a:pt x="0" y="0"/>
                </a:lnTo>
                <a:close/>
              </a:path>
            </a:pathLst>
          </a:custGeom>
          <a:blipFill>
            <a:blip r:embed="rId4"/>
            <a:stretch>
              <a:fillRect l="-76053" t="-41204" r="-148316" b="-33512"/>
            </a:stretch>
          </a:blipFill>
        </p:spPr>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5054275" y="8951539"/>
            <a:ext cx="1012255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MÔ TƠ GIẢM TỐC 3V TRỤC DÀI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463682" y="447675"/>
            <a:ext cx="7360636" cy="1038225"/>
          </a:xfrm>
          <a:prstGeom prst="rect">
            <a:avLst/>
          </a:prstGeom>
        </p:spPr>
        <p:txBody>
          <a:bodyPr lIns="0" tIns="0" rIns="0" bIns="0" rtlCol="0" anchor="t">
            <a:spAutoFit/>
          </a:bodyPr>
          <a:lstStyle/>
          <a:p>
            <a:pPr marL="647700" lvl="1" algn="l">
              <a:lnSpc>
                <a:spcPts val="8400"/>
              </a:lnSpc>
              <a:spcBef>
                <a:spcPct val="0"/>
              </a:spcBef>
            </a:pPr>
            <a:r>
              <a:rPr lang="en-US" sz="6000" smtClean="0">
                <a:gradFill>
                  <a:gsLst>
                    <a:gs pos="0">
                      <a:srgbClr val="8C52FF">
                        <a:alpha val="100000"/>
                      </a:srgbClr>
                    </a:gs>
                    <a:gs pos="100000">
                      <a:srgbClr val="5CE1E6">
                        <a:alpha val="100000"/>
                      </a:srgbClr>
                    </a:gs>
                  </a:gsLst>
                  <a:lin ang="0"/>
                </a:gradFill>
                <a:latin typeface="Anton SC"/>
                <a:ea typeface="Anton SC"/>
                <a:cs typeface="Anton SC"/>
                <a:sym typeface="Anton SC"/>
              </a:rPr>
              <a:t>2. CÁC </a:t>
            </a:r>
            <a:r>
              <a:rPr lang="en-US" sz="6000">
                <a:gradFill>
                  <a:gsLst>
                    <a:gs pos="0">
                      <a:srgbClr val="8C52FF">
                        <a:alpha val="100000"/>
                      </a:srgbClr>
                    </a:gs>
                    <a:gs pos="100000">
                      <a:srgbClr val="5CE1E6">
                        <a:alpha val="100000"/>
                      </a:srgbClr>
                    </a:gs>
                  </a:gsLst>
                  <a:lin ang="0"/>
                </a:gradFill>
                <a:latin typeface="Anton SC"/>
                <a:ea typeface="Anton SC"/>
                <a:cs typeface="Anton SC"/>
                <a:sym typeface="Anton SC"/>
              </a:rPr>
              <a:t>BƯỚC THỰC HIỆN</a:t>
            </a:r>
          </a:p>
        </p:txBody>
      </p:sp>
      <p:sp>
        <p:nvSpPr>
          <p:cNvPr id="6" name="TextBox 6"/>
          <p:cNvSpPr txBox="1"/>
          <p:nvPr/>
        </p:nvSpPr>
        <p:spPr>
          <a:xfrm>
            <a:off x="1482294" y="2599825"/>
            <a:ext cx="16104586" cy="8371205"/>
          </a:xfrm>
          <a:prstGeom prst="rect">
            <a:avLst/>
          </a:prstGeom>
        </p:spPr>
        <p:txBody>
          <a:bodyPr lIns="0" tIns="0" rIns="0" bIns="0" rtlCol="0" anchor="t">
            <a:spAutoFit/>
          </a:bodyPr>
          <a:lstStyle/>
          <a:p>
            <a:pPr marL="1144271" lvl="1" indent="-572135" algn="l">
              <a:lnSpc>
                <a:spcPts val="7420"/>
              </a:lnSpc>
              <a:buFont typeface="Arial"/>
              <a:buChar char="•"/>
            </a:pPr>
            <a:r>
              <a:rPr lang="en-US" sz="5300">
                <a:solidFill>
                  <a:srgbClr val="ED0000"/>
                </a:solidFill>
                <a:latin typeface="Baloo"/>
                <a:ea typeface="Baloo"/>
                <a:cs typeface="Baloo"/>
                <a:sym typeface="Baloo"/>
              </a:rPr>
              <a:t>Bước 1:</a:t>
            </a:r>
            <a:r>
              <a:rPr lang="en-US" sz="5300">
                <a:solidFill>
                  <a:srgbClr val="000000"/>
                </a:solidFill>
                <a:latin typeface="Baloo"/>
                <a:ea typeface="Baloo"/>
                <a:cs typeface="Baloo"/>
                <a:sym typeface="Baloo"/>
              </a:rPr>
              <a:t> Làm trục bằng 2 chiếc đũa kết nối lại</a:t>
            </a:r>
          </a:p>
          <a:p>
            <a:pPr algn="l">
              <a:lnSpc>
                <a:spcPts val="7420"/>
              </a:lnSpc>
            </a:pPr>
            <a:endParaRPr lang="en-US" sz="5300">
              <a:solidFill>
                <a:srgbClr val="000000"/>
              </a:solidFill>
              <a:latin typeface="Baloo"/>
              <a:ea typeface="Baloo"/>
              <a:cs typeface="Baloo"/>
              <a:sym typeface="Baloo"/>
            </a:endParaRPr>
          </a:p>
          <a:p>
            <a:pPr marL="1144271" lvl="1" indent="-572135" algn="l">
              <a:lnSpc>
                <a:spcPts val="7420"/>
              </a:lnSpc>
              <a:buFont typeface="Arial"/>
              <a:buChar char="•"/>
            </a:pPr>
            <a:r>
              <a:rPr lang="en-US" sz="5300">
                <a:solidFill>
                  <a:srgbClr val="ED0000"/>
                </a:solidFill>
                <a:latin typeface="Baloo"/>
                <a:ea typeface="Baloo"/>
                <a:cs typeface="Baloo"/>
                <a:sym typeface="Baloo"/>
              </a:rPr>
              <a:t>Bước 2:</a:t>
            </a:r>
            <a:r>
              <a:rPr lang="en-US" sz="5300">
                <a:solidFill>
                  <a:srgbClr val="000000"/>
                </a:solidFill>
                <a:latin typeface="Baloo"/>
                <a:ea typeface="Baloo"/>
                <a:cs typeface="Baloo"/>
                <a:sym typeface="Baloo"/>
              </a:rPr>
              <a:t> Tô màu lên các que kem theo màu của các nucleotide tương ứng </a:t>
            </a:r>
          </a:p>
          <a:p>
            <a:pPr algn="l">
              <a:lnSpc>
                <a:spcPts val="7420"/>
              </a:lnSpc>
            </a:pPr>
            <a:endParaRPr lang="en-US" sz="5300">
              <a:solidFill>
                <a:srgbClr val="000000"/>
              </a:solidFill>
              <a:latin typeface="Baloo"/>
              <a:ea typeface="Baloo"/>
              <a:cs typeface="Baloo"/>
              <a:sym typeface="Baloo"/>
            </a:endParaRPr>
          </a:p>
          <a:p>
            <a:pPr marL="1144271" lvl="1" indent="-572135" algn="l">
              <a:lnSpc>
                <a:spcPts val="7420"/>
              </a:lnSpc>
              <a:buFont typeface="Arial"/>
              <a:buChar char="•"/>
            </a:pPr>
            <a:r>
              <a:rPr lang="en-US" sz="5300">
                <a:solidFill>
                  <a:srgbClr val="ED0000"/>
                </a:solidFill>
                <a:latin typeface="Baloo"/>
                <a:ea typeface="Baloo"/>
                <a:cs typeface="Baloo"/>
                <a:sym typeface="Baloo"/>
              </a:rPr>
              <a:t>Bước 3: </a:t>
            </a:r>
            <a:r>
              <a:rPr lang="en-US" sz="5300">
                <a:solidFill>
                  <a:srgbClr val="000000"/>
                </a:solidFill>
                <a:latin typeface="Baloo"/>
                <a:ea typeface="Baloo"/>
                <a:cs typeface="Baloo"/>
                <a:sym typeface="Baloo"/>
              </a:rPr>
              <a:t>Nặng đất sét thành các viên tròn và gắn lên que kem</a:t>
            </a:r>
          </a:p>
          <a:p>
            <a:pPr algn="l">
              <a:lnSpc>
                <a:spcPts val="7420"/>
              </a:lnSpc>
            </a:pPr>
            <a:endParaRPr lang="en-US" sz="5300">
              <a:solidFill>
                <a:srgbClr val="000000"/>
              </a:solidFill>
              <a:latin typeface="Baloo"/>
              <a:ea typeface="Baloo"/>
              <a:cs typeface="Baloo"/>
              <a:sym typeface="Baloo"/>
            </a:endParaRPr>
          </a:p>
          <a:p>
            <a:pPr algn="l">
              <a:lnSpc>
                <a:spcPts val="7420"/>
              </a:lnSpc>
              <a:spcBef>
                <a:spcPct val="0"/>
              </a:spcBef>
            </a:pPr>
            <a:endParaRPr lang="en-US" sz="5300">
              <a:solidFill>
                <a:srgbClr val="000000"/>
              </a:solidFill>
              <a:latin typeface="Baloo"/>
              <a:ea typeface="Baloo"/>
              <a:cs typeface="Baloo"/>
              <a:sym typeface="Balo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463682" y="447675"/>
            <a:ext cx="7360636" cy="1038225"/>
          </a:xfrm>
          <a:prstGeom prst="rect">
            <a:avLst/>
          </a:prstGeom>
        </p:spPr>
        <p:txBody>
          <a:bodyPr lIns="0" tIns="0" rIns="0" bIns="0" rtlCol="0" anchor="t">
            <a:spAutoFit/>
          </a:bodyPr>
          <a:lstStyle/>
          <a:p>
            <a:pPr marL="647700" lvl="1" algn="l">
              <a:lnSpc>
                <a:spcPts val="8400"/>
              </a:lnSpc>
              <a:spcBef>
                <a:spcPct val="0"/>
              </a:spcBef>
            </a:pPr>
            <a:r>
              <a:rPr lang="en-US" sz="6000" smtClean="0">
                <a:gradFill>
                  <a:gsLst>
                    <a:gs pos="0">
                      <a:srgbClr val="8C52FF">
                        <a:alpha val="100000"/>
                      </a:srgbClr>
                    </a:gs>
                    <a:gs pos="100000">
                      <a:srgbClr val="5CE1E6">
                        <a:alpha val="100000"/>
                      </a:srgbClr>
                    </a:gs>
                  </a:gsLst>
                  <a:lin ang="0"/>
                </a:gradFill>
                <a:latin typeface="Anton SC"/>
                <a:ea typeface="Anton SC"/>
                <a:cs typeface="Anton SC"/>
                <a:sym typeface="Anton SC"/>
              </a:rPr>
              <a:t>2. CÁC </a:t>
            </a:r>
            <a:r>
              <a:rPr lang="en-US" sz="6000">
                <a:gradFill>
                  <a:gsLst>
                    <a:gs pos="0">
                      <a:srgbClr val="8C52FF">
                        <a:alpha val="100000"/>
                      </a:srgbClr>
                    </a:gs>
                    <a:gs pos="100000">
                      <a:srgbClr val="5CE1E6">
                        <a:alpha val="100000"/>
                      </a:srgbClr>
                    </a:gs>
                  </a:gsLst>
                  <a:lin ang="0"/>
                </a:gradFill>
                <a:latin typeface="Anton SC"/>
                <a:ea typeface="Anton SC"/>
                <a:cs typeface="Anton SC"/>
                <a:sym typeface="Anton SC"/>
              </a:rPr>
              <a:t>BƯỚC THỰC HIỆN</a:t>
            </a:r>
          </a:p>
        </p:txBody>
      </p:sp>
      <p:sp>
        <p:nvSpPr>
          <p:cNvPr id="6" name="TextBox 6"/>
          <p:cNvSpPr txBox="1"/>
          <p:nvPr/>
        </p:nvSpPr>
        <p:spPr>
          <a:xfrm>
            <a:off x="1425144" y="2228350"/>
            <a:ext cx="16104586" cy="9304655"/>
          </a:xfrm>
          <a:prstGeom prst="rect">
            <a:avLst/>
          </a:prstGeom>
        </p:spPr>
        <p:txBody>
          <a:bodyPr lIns="0" tIns="0" rIns="0" bIns="0" rtlCol="0" anchor="t">
            <a:spAutoFit/>
          </a:bodyPr>
          <a:lstStyle/>
          <a:p>
            <a:pPr marL="1144271" lvl="1" indent="-572135" algn="l">
              <a:lnSpc>
                <a:spcPts val="7420"/>
              </a:lnSpc>
              <a:buFont typeface="Arial"/>
              <a:buChar char="•"/>
            </a:pPr>
            <a:r>
              <a:rPr lang="en-US" sz="5300">
                <a:solidFill>
                  <a:srgbClr val="ED0000"/>
                </a:solidFill>
                <a:latin typeface="Baloo"/>
                <a:ea typeface="Baloo"/>
                <a:cs typeface="Baloo"/>
                <a:sym typeface="Baloo"/>
              </a:rPr>
              <a:t>Bước 4:</a:t>
            </a:r>
            <a:r>
              <a:rPr lang="en-US" sz="5300">
                <a:solidFill>
                  <a:srgbClr val="000000"/>
                </a:solidFill>
                <a:latin typeface="Baloo"/>
                <a:ea typeface="Baloo"/>
                <a:cs typeface="Baloo"/>
                <a:sym typeface="Baloo"/>
              </a:rPr>
              <a:t> Gắn que kem đã gắn đất sét lên trục theo dạng xoắn kép</a:t>
            </a:r>
          </a:p>
          <a:p>
            <a:pPr algn="l">
              <a:lnSpc>
                <a:spcPts val="7420"/>
              </a:lnSpc>
            </a:pPr>
            <a:endParaRPr lang="en-US" sz="5300">
              <a:solidFill>
                <a:srgbClr val="000000"/>
              </a:solidFill>
              <a:latin typeface="Baloo"/>
              <a:ea typeface="Baloo"/>
              <a:cs typeface="Baloo"/>
              <a:sym typeface="Baloo"/>
            </a:endParaRPr>
          </a:p>
          <a:p>
            <a:pPr marL="1144271" lvl="1" indent="-572135" algn="l">
              <a:lnSpc>
                <a:spcPts val="7420"/>
              </a:lnSpc>
              <a:buFont typeface="Arial"/>
              <a:buChar char="•"/>
            </a:pPr>
            <a:r>
              <a:rPr lang="en-US" sz="5300">
                <a:solidFill>
                  <a:srgbClr val="ED0000"/>
                </a:solidFill>
                <a:latin typeface="Baloo"/>
                <a:ea typeface="Baloo"/>
                <a:cs typeface="Baloo"/>
                <a:sym typeface="Baloo"/>
              </a:rPr>
              <a:t>Bước 5:</a:t>
            </a:r>
            <a:r>
              <a:rPr lang="en-US" sz="5300">
                <a:solidFill>
                  <a:srgbClr val="000000"/>
                </a:solidFill>
                <a:latin typeface="Baloo"/>
                <a:ea typeface="Baloo"/>
                <a:cs typeface="Baloo"/>
                <a:sym typeface="Baloo"/>
              </a:rPr>
              <a:t> Khoét lỗ để đút đầu mô tơ ra và dán giấy xung quanh hộp carton</a:t>
            </a:r>
          </a:p>
          <a:p>
            <a:pPr algn="l">
              <a:lnSpc>
                <a:spcPts val="7420"/>
              </a:lnSpc>
            </a:pPr>
            <a:endParaRPr lang="en-US" sz="5300">
              <a:solidFill>
                <a:srgbClr val="000000"/>
              </a:solidFill>
              <a:latin typeface="Baloo"/>
              <a:ea typeface="Baloo"/>
              <a:cs typeface="Baloo"/>
              <a:sym typeface="Baloo"/>
            </a:endParaRPr>
          </a:p>
          <a:p>
            <a:pPr marL="1144271" lvl="1" indent="-572135" algn="l">
              <a:lnSpc>
                <a:spcPts val="7420"/>
              </a:lnSpc>
              <a:buFont typeface="Arial"/>
              <a:buChar char="•"/>
            </a:pPr>
            <a:r>
              <a:rPr lang="en-US" sz="5300">
                <a:solidFill>
                  <a:srgbClr val="ED0000"/>
                </a:solidFill>
                <a:latin typeface="Baloo"/>
                <a:ea typeface="Baloo"/>
                <a:cs typeface="Baloo"/>
                <a:sym typeface="Baloo"/>
              </a:rPr>
              <a:t>Bước 6: </a:t>
            </a:r>
            <a:r>
              <a:rPr lang="en-US" sz="5300">
                <a:solidFill>
                  <a:srgbClr val="2E2E30"/>
                </a:solidFill>
                <a:latin typeface="Baloo"/>
                <a:ea typeface="Baloo"/>
                <a:cs typeface="Baloo"/>
                <a:sym typeface="Baloo"/>
              </a:rPr>
              <a:t>Kết nối các bộ phận để hoàn thành mô hình DNA</a:t>
            </a:r>
          </a:p>
          <a:p>
            <a:pPr algn="l">
              <a:lnSpc>
                <a:spcPts val="7420"/>
              </a:lnSpc>
            </a:pPr>
            <a:endParaRPr lang="en-US" sz="5300">
              <a:solidFill>
                <a:srgbClr val="2E2E30"/>
              </a:solidFill>
              <a:latin typeface="Baloo"/>
              <a:ea typeface="Baloo"/>
              <a:cs typeface="Baloo"/>
              <a:sym typeface="Baloo"/>
            </a:endParaRPr>
          </a:p>
          <a:p>
            <a:pPr algn="l">
              <a:lnSpc>
                <a:spcPts val="7420"/>
              </a:lnSpc>
              <a:spcBef>
                <a:spcPct val="0"/>
              </a:spcBef>
            </a:pPr>
            <a:endParaRPr lang="en-US" sz="5300">
              <a:solidFill>
                <a:srgbClr val="2E2E30"/>
              </a:solidFill>
              <a:latin typeface="Baloo"/>
              <a:ea typeface="Baloo"/>
              <a:cs typeface="Baloo"/>
              <a:sym typeface="Balo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6729630" y="0"/>
            <a:ext cx="1714500" cy="1714500"/>
          </a:xfrm>
          <a:prstGeom prst="rect">
            <a:avLst/>
          </a:prstGeom>
        </p:spPr>
      </p:pic>
      <p:pic>
        <p:nvPicPr>
          <p:cNvPr id="3" name="Picture 3"/>
          <p:cNvPicPr>
            <a:picLocks noChangeAspect="1"/>
          </p:cNvPicPr>
          <p:nvPr/>
        </p:nvPicPr>
        <p:blipFill>
          <a:blip r:embed="rId3"/>
          <a:srcRect/>
          <a:stretch>
            <a:fillRect/>
          </a:stretch>
        </p:blipFill>
        <p:spPr>
          <a:xfrm>
            <a:off x="326557" y="8781304"/>
            <a:ext cx="1098588" cy="1381871"/>
          </a:xfrm>
          <a:prstGeom prst="rect">
            <a:avLst/>
          </a:prstGeom>
        </p:spPr>
      </p:pic>
      <p:sp>
        <p:nvSpPr>
          <p:cNvPr id="4" name="TextBox 4"/>
          <p:cNvSpPr txBox="1"/>
          <p:nvPr/>
        </p:nvSpPr>
        <p:spPr>
          <a:xfrm>
            <a:off x="2220420" y="2963863"/>
            <a:ext cx="13847161" cy="4308872"/>
          </a:xfrm>
          <a:prstGeom prst="rect">
            <a:avLst/>
          </a:prstGeom>
        </p:spPr>
        <p:txBody>
          <a:bodyPr lIns="0" tIns="0" rIns="0" bIns="0" rtlCol="0" anchor="t">
            <a:spAutoFit/>
          </a:bodyPr>
          <a:lstStyle/>
          <a:p>
            <a:pPr algn="l">
              <a:lnSpc>
                <a:spcPts val="11200"/>
              </a:lnSpc>
            </a:pPr>
            <a:endParaRPr smtClean="0"/>
          </a:p>
          <a:p>
            <a:pPr marL="863602" lvl="1" algn="l">
              <a:lnSpc>
                <a:spcPts val="11200"/>
              </a:lnSpc>
            </a:pPr>
            <a:r>
              <a:rPr lang="en-US" sz="8000" smtClean="0">
                <a:gradFill>
                  <a:gsLst>
                    <a:gs pos="0">
                      <a:srgbClr val="8C52FF">
                        <a:alpha val="100000"/>
                      </a:srgbClr>
                    </a:gs>
                    <a:gs pos="100000">
                      <a:srgbClr val="FF914D">
                        <a:alpha val="100000"/>
                      </a:srgbClr>
                    </a:gs>
                  </a:gsLst>
                  <a:lin ang="0"/>
                </a:gradFill>
                <a:latin typeface="Anton SC"/>
                <a:ea typeface="Anton SC"/>
                <a:cs typeface="Anton SC"/>
                <a:sym typeface="Anton SC"/>
              </a:rPr>
              <a:t>3. KẾT </a:t>
            </a:r>
            <a:r>
              <a:rPr lang="en-US" sz="8000">
                <a:gradFill>
                  <a:gsLst>
                    <a:gs pos="0">
                      <a:srgbClr val="8C52FF">
                        <a:alpha val="100000"/>
                      </a:srgbClr>
                    </a:gs>
                    <a:gs pos="100000">
                      <a:srgbClr val="FF914D">
                        <a:alpha val="100000"/>
                      </a:srgbClr>
                    </a:gs>
                  </a:gsLst>
                  <a:lin ang="0"/>
                </a:gradFill>
                <a:latin typeface="Anton SC"/>
                <a:ea typeface="Anton SC"/>
                <a:cs typeface="Anton SC"/>
                <a:sym typeface="Anton SC"/>
              </a:rPr>
              <a:t>QUẢ THÀNH PHẨM MÔ HÌNH</a:t>
            </a:r>
          </a:p>
          <a:p>
            <a:pPr algn="l">
              <a:lnSpc>
                <a:spcPts val="11200"/>
              </a:lnSpc>
              <a:spcBef>
                <a:spcPct val="0"/>
              </a:spcBef>
            </a:pPr>
            <a:endParaRPr lang="en-US" sz="8000">
              <a:gradFill>
                <a:gsLst>
                  <a:gs pos="0">
                    <a:srgbClr val="8C52FF">
                      <a:alpha val="100000"/>
                    </a:srgbClr>
                  </a:gs>
                  <a:gs pos="100000">
                    <a:srgbClr val="FF914D">
                      <a:alpha val="100000"/>
                    </a:srgbClr>
                  </a:gs>
                </a:gsLst>
                <a:lin ang="0"/>
              </a:gradFill>
              <a:latin typeface="Anton SC"/>
              <a:ea typeface="Anton SC"/>
              <a:cs typeface="Anton SC"/>
              <a:sym typeface="Anton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3792045" y="447675"/>
            <a:ext cx="10703911" cy="1038225"/>
          </a:xfrm>
          <a:prstGeom prst="rect">
            <a:avLst/>
          </a:prstGeom>
        </p:spPr>
        <p:txBody>
          <a:bodyPr lIns="0" tIns="0" rIns="0" bIns="0" rtlCol="0" anchor="t">
            <a:spAutoFit/>
          </a:bodyPr>
          <a:lstStyle/>
          <a:p>
            <a:pPr marL="647700" lvl="1" algn="l">
              <a:lnSpc>
                <a:spcPts val="8400"/>
              </a:lnSpc>
              <a:spcBef>
                <a:spcPct val="0"/>
              </a:spcBef>
            </a:pPr>
            <a:r>
              <a:rPr lang="en-US" sz="6000" smtClean="0">
                <a:gradFill>
                  <a:gsLst>
                    <a:gs pos="0">
                      <a:srgbClr val="0097B2">
                        <a:alpha val="100000"/>
                      </a:srgbClr>
                    </a:gs>
                    <a:gs pos="100000">
                      <a:srgbClr val="7ED957">
                        <a:alpha val="100000"/>
                      </a:srgbClr>
                    </a:gs>
                  </a:gsLst>
                  <a:lin ang="0"/>
                </a:gradFill>
                <a:latin typeface="Anton SC"/>
                <a:ea typeface="Anton SC"/>
                <a:cs typeface="Anton SC"/>
                <a:sym typeface="Anton SC"/>
              </a:rPr>
              <a:t>4. PHÂN </a:t>
            </a:r>
            <a:r>
              <a:rPr lang="en-US" sz="6000">
                <a:gradFill>
                  <a:gsLst>
                    <a:gs pos="0">
                      <a:srgbClr val="0097B2">
                        <a:alpha val="100000"/>
                      </a:srgbClr>
                    </a:gs>
                    <a:gs pos="100000">
                      <a:srgbClr val="7ED957">
                        <a:alpha val="100000"/>
                      </a:srgbClr>
                    </a:gs>
                  </a:gsLst>
                  <a:lin ang="0"/>
                </a:gradFill>
                <a:latin typeface="Anton SC"/>
                <a:ea typeface="Anton SC"/>
                <a:cs typeface="Anton SC"/>
                <a:sym typeface="Anton SC"/>
              </a:rPr>
              <a:t>TÍCH, Ý NGHĨA CỦA MÔ HÌNH</a:t>
            </a:r>
          </a:p>
        </p:txBody>
      </p:sp>
      <p:sp>
        <p:nvSpPr>
          <p:cNvPr id="6" name="TextBox 6"/>
          <p:cNvSpPr txBox="1"/>
          <p:nvPr/>
        </p:nvSpPr>
        <p:spPr>
          <a:xfrm>
            <a:off x="1710894" y="2417853"/>
            <a:ext cx="2877074" cy="927100"/>
          </a:xfrm>
          <a:prstGeom prst="rect">
            <a:avLst/>
          </a:prstGeom>
        </p:spPr>
        <p:txBody>
          <a:bodyPr lIns="0" tIns="0" rIns="0" bIns="0" rtlCol="0" anchor="t">
            <a:spAutoFit/>
          </a:bodyPr>
          <a:lstStyle/>
          <a:p>
            <a:pPr algn="l">
              <a:lnSpc>
                <a:spcPts val="7699"/>
              </a:lnSpc>
              <a:spcBef>
                <a:spcPct val="0"/>
              </a:spcBef>
            </a:pPr>
            <a:r>
              <a:rPr lang="en-US" sz="5499">
                <a:solidFill>
                  <a:srgbClr val="FF0000"/>
                </a:solidFill>
                <a:latin typeface="Anton SC"/>
                <a:ea typeface="Anton SC"/>
                <a:cs typeface="Anton SC"/>
                <a:sym typeface="Anton SC"/>
              </a:rPr>
              <a:t>PHÂN TÍCH</a:t>
            </a:r>
          </a:p>
        </p:txBody>
      </p:sp>
      <p:sp>
        <p:nvSpPr>
          <p:cNvPr id="7" name="TextBox 7"/>
          <p:cNvSpPr txBox="1"/>
          <p:nvPr/>
        </p:nvSpPr>
        <p:spPr>
          <a:xfrm>
            <a:off x="6185761" y="3750889"/>
            <a:ext cx="7257744" cy="5721350"/>
          </a:xfrm>
          <a:prstGeom prst="rect">
            <a:avLst/>
          </a:prstGeom>
        </p:spPr>
        <p:txBody>
          <a:bodyPr lIns="0" tIns="0" rIns="0" bIns="0" rtlCol="0" anchor="t">
            <a:spAutoFit/>
          </a:bodyPr>
          <a:lstStyle/>
          <a:p>
            <a:pPr algn="l">
              <a:lnSpc>
                <a:spcPts val="9100"/>
              </a:lnSpc>
            </a:pPr>
            <a:r>
              <a:rPr lang="en-US" sz="6500">
                <a:solidFill>
                  <a:srgbClr val="FF0000"/>
                </a:solidFill>
                <a:latin typeface="Baloo"/>
                <a:ea typeface="Baloo"/>
                <a:cs typeface="Baloo"/>
                <a:sym typeface="Baloo"/>
              </a:rPr>
              <a:t>Màu đỏ: A</a:t>
            </a:r>
          </a:p>
          <a:p>
            <a:pPr algn="l">
              <a:lnSpc>
                <a:spcPts val="9100"/>
              </a:lnSpc>
            </a:pPr>
            <a:r>
              <a:rPr lang="en-US" sz="6500">
                <a:solidFill>
                  <a:srgbClr val="D1951A"/>
                </a:solidFill>
                <a:latin typeface="Baloo"/>
                <a:ea typeface="Baloo"/>
                <a:cs typeface="Baloo"/>
                <a:sym typeface="Baloo"/>
              </a:rPr>
              <a:t>Màu Vàng: T</a:t>
            </a:r>
          </a:p>
          <a:p>
            <a:pPr algn="l">
              <a:lnSpc>
                <a:spcPts val="9100"/>
              </a:lnSpc>
            </a:pPr>
            <a:r>
              <a:rPr lang="en-US" sz="6500">
                <a:solidFill>
                  <a:srgbClr val="2E03FF"/>
                </a:solidFill>
                <a:latin typeface="Baloo"/>
                <a:ea typeface="Baloo"/>
                <a:cs typeface="Baloo"/>
                <a:sym typeface="Baloo"/>
              </a:rPr>
              <a:t>Màu xanh dương: G </a:t>
            </a:r>
          </a:p>
          <a:p>
            <a:pPr algn="l">
              <a:lnSpc>
                <a:spcPts val="9100"/>
              </a:lnSpc>
            </a:pPr>
            <a:r>
              <a:rPr lang="en-US" sz="6500">
                <a:solidFill>
                  <a:srgbClr val="009D3A"/>
                </a:solidFill>
                <a:latin typeface="Baloo"/>
                <a:ea typeface="Baloo"/>
                <a:cs typeface="Baloo"/>
                <a:sym typeface="Baloo"/>
              </a:rPr>
              <a:t>Màu xanh lá: C</a:t>
            </a:r>
          </a:p>
          <a:p>
            <a:pPr algn="l">
              <a:lnSpc>
                <a:spcPts val="9100"/>
              </a:lnSpc>
              <a:spcBef>
                <a:spcPct val="0"/>
              </a:spcBef>
            </a:pPr>
            <a:endParaRPr lang="en-US" sz="6500">
              <a:solidFill>
                <a:srgbClr val="009D3A"/>
              </a:solidFill>
              <a:latin typeface="Baloo"/>
              <a:ea typeface="Baloo"/>
              <a:cs typeface="Baloo"/>
              <a:sym typeface="Balo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3792045" y="447675"/>
            <a:ext cx="10703911" cy="1077218"/>
          </a:xfrm>
          <a:prstGeom prst="rect">
            <a:avLst/>
          </a:prstGeom>
        </p:spPr>
        <p:txBody>
          <a:bodyPr lIns="0" tIns="0" rIns="0" bIns="0" rtlCol="0" anchor="t">
            <a:spAutoFit/>
          </a:bodyPr>
          <a:lstStyle/>
          <a:p>
            <a:pPr marL="647700" lvl="1" algn="l">
              <a:lnSpc>
                <a:spcPts val="8400"/>
              </a:lnSpc>
              <a:spcBef>
                <a:spcPct val="0"/>
              </a:spcBef>
            </a:pPr>
            <a:r>
              <a:rPr lang="en-US" sz="6000" smtClean="0">
                <a:gradFill>
                  <a:gsLst>
                    <a:gs pos="0">
                      <a:srgbClr val="0097B2">
                        <a:alpha val="100000"/>
                      </a:srgbClr>
                    </a:gs>
                    <a:gs pos="100000">
                      <a:srgbClr val="7ED957">
                        <a:alpha val="100000"/>
                      </a:srgbClr>
                    </a:gs>
                  </a:gsLst>
                  <a:lin ang="0"/>
                </a:gradFill>
                <a:latin typeface="Anton SC"/>
                <a:ea typeface="Anton SC"/>
                <a:cs typeface="Anton SC"/>
                <a:sym typeface="Anton SC"/>
              </a:rPr>
              <a:t>4. </a:t>
            </a:r>
            <a:r>
              <a:rPr lang="en-US" sz="6000" smtClean="0">
                <a:gradFill>
                  <a:gsLst>
                    <a:gs pos="0">
                      <a:srgbClr val="0097B2">
                        <a:alpha val="100000"/>
                      </a:srgbClr>
                    </a:gs>
                    <a:gs pos="100000">
                      <a:srgbClr val="7ED957">
                        <a:alpha val="100000"/>
                      </a:srgbClr>
                    </a:gs>
                  </a:gsLst>
                  <a:lin ang="0"/>
                </a:gradFill>
                <a:latin typeface="Anton SC"/>
                <a:ea typeface="Anton SC"/>
                <a:cs typeface="Anton SC"/>
                <a:sym typeface="Anton SC"/>
              </a:rPr>
              <a:t>PHÂN </a:t>
            </a:r>
            <a:r>
              <a:rPr lang="en-US" sz="6000">
                <a:gradFill>
                  <a:gsLst>
                    <a:gs pos="0">
                      <a:srgbClr val="0097B2">
                        <a:alpha val="100000"/>
                      </a:srgbClr>
                    </a:gs>
                    <a:gs pos="100000">
                      <a:srgbClr val="7ED957">
                        <a:alpha val="100000"/>
                      </a:srgbClr>
                    </a:gs>
                  </a:gsLst>
                  <a:lin ang="0"/>
                </a:gradFill>
                <a:latin typeface="Anton SC"/>
                <a:ea typeface="Anton SC"/>
                <a:cs typeface="Anton SC"/>
                <a:sym typeface="Anton SC"/>
              </a:rPr>
              <a:t>TÍCH, Ý NGHĨA CỦA MÔ HÌNH</a:t>
            </a:r>
          </a:p>
        </p:txBody>
      </p:sp>
      <p:sp>
        <p:nvSpPr>
          <p:cNvPr id="6" name="TextBox 6"/>
          <p:cNvSpPr txBox="1"/>
          <p:nvPr/>
        </p:nvSpPr>
        <p:spPr>
          <a:xfrm>
            <a:off x="1710894" y="2417853"/>
            <a:ext cx="2877074" cy="927100"/>
          </a:xfrm>
          <a:prstGeom prst="rect">
            <a:avLst/>
          </a:prstGeom>
        </p:spPr>
        <p:txBody>
          <a:bodyPr lIns="0" tIns="0" rIns="0" bIns="0" rtlCol="0" anchor="t">
            <a:spAutoFit/>
          </a:bodyPr>
          <a:lstStyle/>
          <a:p>
            <a:pPr algn="l">
              <a:lnSpc>
                <a:spcPts val="7699"/>
              </a:lnSpc>
              <a:spcBef>
                <a:spcPct val="0"/>
              </a:spcBef>
            </a:pPr>
            <a:r>
              <a:rPr lang="en-US" sz="5499">
                <a:solidFill>
                  <a:srgbClr val="FF0000"/>
                </a:solidFill>
                <a:latin typeface="Anton SC"/>
                <a:ea typeface="Anton SC"/>
                <a:cs typeface="Anton SC"/>
                <a:sym typeface="Anton SC"/>
              </a:rPr>
              <a:t>Ý NGHĨA</a:t>
            </a:r>
          </a:p>
        </p:txBody>
      </p:sp>
      <p:sp>
        <p:nvSpPr>
          <p:cNvPr id="7" name="TextBox 7"/>
          <p:cNvSpPr txBox="1"/>
          <p:nvPr/>
        </p:nvSpPr>
        <p:spPr>
          <a:xfrm>
            <a:off x="2829231" y="3478303"/>
            <a:ext cx="14430069" cy="9202420"/>
          </a:xfrm>
          <a:prstGeom prst="rect">
            <a:avLst/>
          </a:prstGeom>
        </p:spPr>
        <p:txBody>
          <a:bodyPr lIns="0" tIns="0" rIns="0" bIns="0" rtlCol="0" anchor="t">
            <a:spAutoFit/>
          </a:bodyPr>
          <a:lstStyle/>
          <a:p>
            <a:pPr algn="l">
              <a:lnSpc>
                <a:spcPts val="7279"/>
              </a:lnSpc>
            </a:pPr>
            <a:r>
              <a:rPr lang="en-US" sz="5199">
                <a:gradFill>
                  <a:gsLst>
                    <a:gs pos="0">
                      <a:srgbClr val="8C52FF">
                        <a:alpha val="100000"/>
                      </a:srgbClr>
                    </a:gs>
                    <a:gs pos="100000">
                      <a:srgbClr val="FF914D">
                        <a:alpha val="100000"/>
                      </a:srgbClr>
                    </a:gs>
                  </a:gsLst>
                  <a:lin ang="0"/>
                </a:gradFill>
                <a:latin typeface="Baloo"/>
                <a:ea typeface="Baloo"/>
                <a:cs typeface="Baloo"/>
                <a:sym typeface="Baloo"/>
              </a:rPr>
              <a:t>Mô hình DNA</a:t>
            </a:r>
            <a:r>
              <a:rPr lang="en-US" sz="5199">
                <a:solidFill>
                  <a:srgbClr val="2E2E30"/>
                </a:solidFill>
                <a:latin typeface="Baloo"/>
                <a:ea typeface="Baloo"/>
                <a:cs typeface="Baloo"/>
                <a:sym typeface="Baloo"/>
              </a:rPr>
              <a:t> giúp chúng ta trực quan hóa cấu trúc xoắn kép của DNA, hiểu rõ hơn về vật chất di truyền mang thông tin quy định đặc điểm của sinh vật. </a:t>
            </a:r>
          </a:p>
          <a:p>
            <a:pPr algn="l">
              <a:lnSpc>
                <a:spcPts val="7279"/>
              </a:lnSpc>
            </a:pPr>
            <a:r>
              <a:rPr lang="en-US" sz="5199">
                <a:gradFill>
                  <a:gsLst>
                    <a:gs pos="0">
                      <a:srgbClr val="5170FF">
                        <a:alpha val="100000"/>
                      </a:srgbClr>
                    </a:gs>
                    <a:gs pos="100000">
                      <a:srgbClr val="FF66C4">
                        <a:alpha val="100000"/>
                      </a:srgbClr>
                    </a:gs>
                  </a:gsLst>
                  <a:lin ang="0"/>
                </a:gradFill>
                <a:latin typeface="Baloo"/>
                <a:ea typeface="Baloo"/>
                <a:cs typeface="Baloo"/>
                <a:sym typeface="Baloo"/>
              </a:rPr>
              <a:t> 👉Qua đó, chúng em vận dụng kiến thức vào thực tế, phát triển tư duy sáng tạo và thêm yêu thích môn Sinh học.</a:t>
            </a:r>
          </a:p>
          <a:p>
            <a:pPr algn="l">
              <a:lnSpc>
                <a:spcPts val="7279"/>
              </a:lnSpc>
            </a:pPr>
            <a:endParaRPr lang="en-US" sz="5199">
              <a:gradFill>
                <a:gsLst>
                  <a:gs pos="0">
                    <a:srgbClr val="5170FF">
                      <a:alpha val="100000"/>
                    </a:srgbClr>
                  </a:gs>
                  <a:gs pos="100000">
                    <a:srgbClr val="FF66C4">
                      <a:alpha val="100000"/>
                    </a:srgbClr>
                  </a:gs>
                </a:gsLst>
                <a:lin ang="0"/>
              </a:gradFill>
              <a:latin typeface="Baloo"/>
              <a:ea typeface="Baloo"/>
              <a:cs typeface="Baloo"/>
              <a:sym typeface="Baloo"/>
            </a:endParaRPr>
          </a:p>
          <a:p>
            <a:pPr algn="l">
              <a:lnSpc>
                <a:spcPts val="7279"/>
              </a:lnSpc>
            </a:pPr>
            <a:endParaRPr lang="en-US" sz="5199">
              <a:gradFill>
                <a:gsLst>
                  <a:gs pos="0">
                    <a:srgbClr val="5170FF">
                      <a:alpha val="100000"/>
                    </a:srgbClr>
                  </a:gs>
                  <a:gs pos="100000">
                    <a:srgbClr val="FF66C4">
                      <a:alpha val="100000"/>
                    </a:srgbClr>
                  </a:gs>
                </a:gsLst>
                <a:lin ang="0"/>
              </a:gradFill>
              <a:latin typeface="Baloo"/>
              <a:ea typeface="Baloo"/>
              <a:cs typeface="Baloo"/>
              <a:sym typeface="Baloo"/>
            </a:endParaRPr>
          </a:p>
          <a:p>
            <a:pPr algn="l">
              <a:lnSpc>
                <a:spcPts val="7279"/>
              </a:lnSpc>
              <a:spcBef>
                <a:spcPct val="0"/>
              </a:spcBef>
            </a:pPr>
            <a:endParaRPr lang="en-US" sz="5199">
              <a:gradFill>
                <a:gsLst>
                  <a:gs pos="0">
                    <a:srgbClr val="5170FF">
                      <a:alpha val="100000"/>
                    </a:srgbClr>
                  </a:gs>
                  <a:gs pos="100000">
                    <a:srgbClr val="FF66C4">
                      <a:alpha val="100000"/>
                    </a:srgbClr>
                  </a:gs>
                </a:gsLst>
                <a:lin ang="0"/>
              </a:gradFill>
              <a:latin typeface="Baloo"/>
              <a:ea typeface="Baloo"/>
              <a:cs typeface="Baloo"/>
              <a:sym typeface="Balo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295129" y="447675"/>
            <a:ext cx="9789511" cy="1038225"/>
          </a:xfrm>
          <a:prstGeom prst="rect">
            <a:avLst/>
          </a:prstGeom>
        </p:spPr>
        <p:txBody>
          <a:bodyPr lIns="0" tIns="0" rIns="0" bIns="0" rtlCol="0" anchor="t">
            <a:spAutoFit/>
          </a:bodyPr>
          <a:lstStyle/>
          <a:p>
            <a:pPr marL="647700" lvl="1" algn="l">
              <a:lnSpc>
                <a:spcPts val="8400"/>
              </a:lnSpc>
              <a:spcBef>
                <a:spcPct val="0"/>
              </a:spcBef>
            </a:pPr>
            <a:r>
              <a:rPr lang="en-US" sz="6000" smtClean="0">
                <a:gradFill>
                  <a:gsLst>
                    <a:gs pos="0">
                      <a:srgbClr val="FF5757">
                        <a:alpha val="100000"/>
                      </a:srgbClr>
                    </a:gs>
                    <a:gs pos="100000">
                      <a:srgbClr val="8C52FF">
                        <a:alpha val="100000"/>
                      </a:srgbClr>
                    </a:gs>
                  </a:gsLst>
                  <a:lin ang="0"/>
                </a:gradFill>
                <a:latin typeface="Anton SC"/>
                <a:ea typeface="Anton SC"/>
                <a:cs typeface="Anton SC"/>
                <a:sym typeface="Anton SC"/>
              </a:rPr>
              <a:t>5. ĐÁNH </a:t>
            </a:r>
            <a:r>
              <a:rPr lang="en-US" sz="6000">
                <a:gradFill>
                  <a:gsLst>
                    <a:gs pos="0">
                      <a:srgbClr val="FF5757">
                        <a:alpha val="100000"/>
                      </a:srgbClr>
                    </a:gs>
                    <a:gs pos="100000">
                      <a:srgbClr val="8C52FF">
                        <a:alpha val="100000"/>
                      </a:srgbClr>
                    </a:gs>
                  </a:gsLst>
                  <a:lin ang="0"/>
                </a:gradFill>
                <a:latin typeface="Anton SC"/>
                <a:ea typeface="Anton SC"/>
                <a:cs typeface="Anton SC"/>
                <a:sym typeface="Anton SC"/>
              </a:rPr>
              <a:t>GIÁ CỦA NHÓM</a:t>
            </a:r>
          </a:p>
        </p:txBody>
      </p:sp>
      <p:sp>
        <p:nvSpPr>
          <p:cNvPr id="6" name="TextBox 6"/>
          <p:cNvSpPr txBox="1"/>
          <p:nvPr/>
        </p:nvSpPr>
        <p:spPr>
          <a:xfrm>
            <a:off x="2299561" y="2979308"/>
            <a:ext cx="14430069" cy="5570855"/>
          </a:xfrm>
          <a:prstGeom prst="rect">
            <a:avLst/>
          </a:prstGeom>
        </p:spPr>
        <p:txBody>
          <a:bodyPr lIns="0" tIns="0" rIns="0" bIns="0" rtlCol="0" anchor="t">
            <a:spAutoFit/>
          </a:bodyPr>
          <a:lstStyle/>
          <a:p>
            <a:pPr algn="l">
              <a:lnSpc>
                <a:spcPts val="7420"/>
              </a:lnSpc>
            </a:pPr>
            <a:r>
              <a:rPr lang="en-US" sz="5300">
                <a:solidFill>
                  <a:srgbClr val="2E2E30"/>
                </a:solidFill>
                <a:latin typeface="Baloo"/>
                <a:ea typeface="Baloo"/>
                <a:cs typeface="Baloo"/>
                <a:sym typeface="Baloo"/>
              </a:rPr>
              <a:t>Qua quá trình thực hiện, bọn em nhận thấy làm mô hình DNA không quá khó, nhưng lại mang đến nhiều kiến thức bổ ích. Đây không chỉ là cơ hội để vận dụng kiến thức đã học mà còn giúp bọn em hiểu bài sâu hơn và cảm thấy Sinh học thú vị hơn.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095104"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ĐÁNH GIÁ CỦA NHÓM</a:t>
            </a:r>
          </a:p>
        </p:txBody>
      </p:sp>
      <p:sp>
        <p:nvSpPr>
          <p:cNvPr id="6" name="TextBox 6"/>
          <p:cNvSpPr txBox="1"/>
          <p:nvPr/>
        </p:nvSpPr>
        <p:spPr>
          <a:xfrm>
            <a:off x="2299561" y="2979308"/>
            <a:ext cx="14430069" cy="5570855"/>
          </a:xfrm>
          <a:prstGeom prst="rect">
            <a:avLst/>
          </a:prstGeom>
        </p:spPr>
        <p:txBody>
          <a:bodyPr lIns="0" tIns="0" rIns="0" bIns="0" rtlCol="0" anchor="t">
            <a:spAutoFit/>
          </a:bodyPr>
          <a:lstStyle/>
          <a:p>
            <a:pPr algn="l">
              <a:lnSpc>
                <a:spcPts val="7420"/>
              </a:lnSpc>
            </a:pPr>
            <a:r>
              <a:rPr lang="en-US" sz="5300">
                <a:solidFill>
                  <a:srgbClr val="2E2E30"/>
                </a:solidFill>
                <a:latin typeface="Baloo"/>
                <a:ea typeface="Baloo"/>
                <a:cs typeface="Baloo"/>
                <a:sym typeface="Baloo"/>
              </a:rPr>
              <a:t>Qua quá trình thực hiện, bọn em nhận thấy làm mô hình DNA không quá khó, nhưng lại mang đến nhiều kiến thức bổ ích. Đây không chỉ là cơ hội để vận dụng kiến thức đã học mà còn giúp bọn em hiểu bài sâu hơn và cảm thấy Sinh học thú vị hơn.</a:t>
            </a:r>
          </a:p>
        </p:txBody>
      </p:sp>
      <p:sp>
        <p:nvSpPr>
          <p:cNvPr id="7" name="Freeform 7"/>
          <p:cNvSpPr/>
          <p:nvPr/>
        </p:nvSpPr>
        <p:spPr>
          <a:xfrm>
            <a:off x="0" y="0"/>
            <a:ext cx="18067867" cy="10163175"/>
          </a:xfrm>
          <a:custGeom>
            <a:avLst/>
            <a:gdLst/>
            <a:ahLst/>
            <a:cxnLst/>
            <a:rect l="l" t="t" r="r" b="b"/>
            <a:pathLst>
              <a:path w="18067867" h="10163175">
                <a:moveTo>
                  <a:pt x="0" y="0"/>
                </a:moveTo>
                <a:lnTo>
                  <a:pt x="18067867" y="0"/>
                </a:lnTo>
                <a:lnTo>
                  <a:pt x="18067867" y="10163175"/>
                </a:lnTo>
                <a:lnTo>
                  <a:pt x="0" y="10163175"/>
                </a:lnTo>
                <a:lnTo>
                  <a:pt x="0" y="0"/>
                </a:lnTo>
                <a:close/>
              </a:path>
            </a:pathLst>
          </a:custGeom>
          <a:blipFill>
            <a:blip r:embed="rId4"/>
            <a:stretch>
              <a:fillRect/>
            </a:stretch>
          </a:blipFill>
        </p:spPr>
      </p:sp>
      <p:sp>
        <p:nvSpPr>
          <p:cNvPr id="8" name="TextBox 8"/>
          <p:cNvSpPr txBox="1"/>
          <p:nvPr/>
        </p:nvSpPr>
        <p:spPr>
          <a:xfrm>
            <a:off x="1132279" y="2621133"/>
            <a:ext cx="16127021" cy="4895850"/>
          </a:xfrm>
          <a:prstGeom prst="rect">
            <a:avLst/>
          </a:prstGeom>
        </p:spPr>
        <p:txBody>
          <a:bodyPr lIns="0" tIns="0" rIns="0" bIns="0" rtlCol="0" anchor="t">
            <a:spAutoFit/>
          </a:bodyPr>
          <a:lstStyle/>
          <a:p>
            <a:pPr algn="l">
              <a:lnSpc>
                <a:spcPts val="39900"/>
              </a:lnSpc>
            </a:pPr>
            <a:r>
              <a:rPr lang="en-US" sz="28500" spc="854">
                <a:gradFill>
                  <a:gsLst>
                    <a:gs pos="0">
                      <a:srgbClr val="8C52FF">
                        <a:alpha val="80000"/>
                      </a:srgbClr>
                    </a:gs>
                    <a:gs pos="100000">
                      <a:srgbClr val="5CE1E6">
                        <a:alpha val="80000"/>
                      </a:srgbClr>
                    </a:gs>
                  </a:gsLst>
                  <a:lin ang="0"/>
                </a:gra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511</Words>
  <Application>Microsoft Office PowerPoint</Application>
  <PresentationFormat>Custom</PresentationFormat>
  <Paragraphs>62</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Agrandir Grand Medium</vt:lpstr>
      <vt:lpstr>Baloo</vt:lpstr>
      <vt:lpstr>Anton</vt:lpstr>
      <vt:lpstr>Calibri</vt:lpstr>
      <vt:lpstr>Arial</vt:lpstr>
      <vt:lpstr>Anton SC</vt:lpstr>
      <vt:lpstr>Agrandir Grand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NHOM8-912-DNARNA</dc:title>
  <cp:lastModifiedBy>leha</cp:lastModifiedBy>
  <cp:revision>2</cp:revision>
  <dcterms:created xsi:type="dcterms:W3CDTF">2006-08-16T00:00:00Z</dcterms:created>
  <dcterms:modified xsi:type="dcterms:W3CDTF">2026-10-15T15:24:53Z</dcterms:modified>
  <dc:identifier>DAHYFmliNS8</dc:identifier>
</cp:coreProperties>
</file>